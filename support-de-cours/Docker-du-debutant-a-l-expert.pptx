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charts/chart1.xml" ContentType="application/vnd.openxmlformats-officedocument.drawingml.chart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4cdb24a-8430-39c6-0b70-101b040a632b}">
          <p14:sldIdLst>
            <p14:sldId id="256"/>
            <p14:sldId id="257"/>
            <p14:sldId id="258"/>
            <p14:sldId id="259"/>
            <p14:sldId id="260"/>
          </p14:sldIdLst>
        </p14:section>
        <p14:section name="01 · Introduction aux conteneurs" id="{17f1c833-ff73-3816-a364-bcfd6f052e2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· Installation et CLI" id="{3827ac29-7e7a-ba1e-4c9f-721c996a1f26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3 · Images et registres" id="{cbe88da3-d0a5-f6f0-c7c1-2a0db0c231ef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04 · Conteneurs en profondeur" id="{468722d9-3d28-1951-e4bf-43ffb28ad5f0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05 · Dockerfile" id="{a58a48dd-f6ec-4bce-9ff2-183a7996c8e5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06 · Dockerfile avancé" id="{31e5471b-7a31-8154-5d9a-33c057893e5d}">
          <p14:sldIdLst>
            <p14:sldId id="296"/>
            <p14:sldId id="297"/>
            <p14:sldId id="298"/>
            <p14:sldId id="299"/>
            <p14:sldId id="300"/>
          </p14:sldIdLst>
        </p14:section>
        <p14:section name="07 · Volumes et stockage" id="{1cba0977-a7d4-ad37-2a51-427049011098}">
          <p14:sldIdLst>
            <p14:sldId id="301"/>
            <p14:sldId id="302"/>
            <p14:sldId id="303"/>
            <p14:sldId id="304"/>
            <p14:sldId id="305"/>
          </p14:sldIdLst>
        </p14:section>
        <p14:section name="08 · Réseau" id="{7ea37cbe-dc6e-ddd5-d3c7-e38344a958f2}">
          <p14:sldIdLst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09 · Docker Compose" id="{af31604a-3351-38e1-bc34-d639a69e7858}">
          <p14:sldIdLst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10 · CI/CD" id="{f28fe1a2-918c-4539-3c41-0e5f77501e82}">
          <p14:sldIdLst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11 · Sécurité" id="{2d1fa1e1-bbf4-3442-6ff8-61f0f70b04ac}">
          <p14:sldIdLst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12 · Observabilité" id="{46c4ea15-644e-de57-ce6d-208c37c94670}">
          <p14:sldIdLst>
            <p14:sldId id="330"/>
            <p14:sldId id="331"/>
            <p14:sldId id="332"/>
            <p14:sldId id="333"/>
            <p14:sldId id="334"/>
          </p14:sldIdLst>
        </p14:section>
        <p14:section name="13 · Orchestration" id="{812c6a48-c2ba-9f50-8ba9-58a3ab7fa848}">
          <p14:sldIdLst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14 · Expert" id="{d12ddc87-74cb-4707-2be0-7a4b0a65404c}">
          <p14:sldIdLst>
            <p14:sldId id="341"/>
            <p14:sldId id="342"/>
            <p14:sldId id="343"/>
            <p14:sldId id="344"/>
            <p14:sldId id="345"/>
            <p14:sldId id="346"/>
          </p14:sldIdLst>
        </p14:section>
        <p14:section name="15 · Projet final" id="{239acece-6aa9-a508-ca29-abfdccd33200}">
          <p14:sldIdLst>
            <p14:sldId id="347"/>
            <p14:sldId id="348"/>
            <p14:sldId id="349"/>
            <p14:sldId id="350"/>
            <p14:sldId id="351"/>
          </p14:sldIdLst>
        </p14:section>
        <p14:section name="Conclusion" id="{774ea95b-5e99-3a03-c306-9fbec3837cd8}">
          <p14:sldIdLst>
            <p14:sldId id="352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+mn-lt"/>
              </a:rPr>
              <a:t>Barème (100 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0F9E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Dockerfile</c:v>
                  </c:pt>
                  <c:pt idx="1">
                    <c:v>Compose</c:v>
                  </c:pt>
                  <c:pt idx="2">
                    <c:v>Données</c:v>
                  </c:pt>
                  <c:pt idx="3">
                    <c:v>CI/CD</c:v>
                  </c:pt>
                  <c:pt idx="4">
                    <c:v>Sécurité</c:v>
                  </c:pt>
                  <c:pt idx="5">
                    <c:v>Observabilité</c:v>
                  </c:pt>
                  <c:pt idx="6">
                    <c:v>Doc et démo</c:v>
                  </c:pt>
                  <c:pt idx="7">
                    <c:v>Bonus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15</c:v>
                </c:pt>
                <c:pt idx="2">
                  <c:v>10</c:v>
                </c:pt>
                <c:pt idx="3">
                  <c:v>20</c:v>
                </c:pt>
                <c:pt idx="4">
                  <c:v>15</c:v>
                </c:pt>
                <c:pt idx="5">
                  <c:v>10</c:v>
                </c:pt>
                <c:pt idx="6">
                  <c:v>10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Bienvenue. Cette formation suit le dépôt GitHub nzembouong18/docker : chaque module du support correspond à un dossier avec cours, démos, labos corrigés et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objectifs. Insister sur le fait que la formation est pratique : chaque notion est suivie d'une démo et d'un labo.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 brièvement : expérience DevOps et Kubernetes, ce qui motive cette 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progression par niveaux : vert débutant, jaune intermédiaire, orange avancé, rouge expert. Durée totale environ 45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l'arborescence et la méthode : lire, rejouer la démo, faire le labo sans regarder la solution, passer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01 : environ 2 heures. Objectif : comprendre ce qu'est un conteneur.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Raconter le scénario classique : dépendances différentes entre poste, CI et production. Le conteneur emballe l'application avec ses dépendances.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crucial : un conteneur partage le noyau de l'hôte. C'est un processus isolé, pas une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conteneur n'est pas une chose en soi : c'est un processus Linux + ces trois mécanismes. On les manipulera au module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chemin d'un docker run : CLI vers dockerd via le socket, puis containerd, puis runc qui crée les namespaces et cgroups.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reformuler image vs conteneur par analogie classe/objet.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toute la formation en une ligne : build, push, pull, run. Chaque module approfondit un maillon.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20 minutes. Les corrigés sont dans modules/01-introduction/solutions.md.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02 : environ 2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dépôt officiel plutôt que le script get.docker.com, réservé aux labos. Rappeler que le groupe docker équivaut à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 fait pull, create, start puis attach. Présenter les options les plus courantes.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en direct : lancer, tester avec curl, lire les logs, entrer dans le conteneur, nettoyer.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docker inspect avec --format : c'est l'outil de diagnostic numéro 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codes 137 et 143 reviendront souvent : 128 + numéro du signal. À retenir par cœur.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labos installent les bons réflexes : nommage, bind mount, base jetable, codes de sortie, nettoyage.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03 : environ 2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la pile au tableau. Chaque instruction du Dockerfile crée une couche. Les couches sont identifiées par un hash et partagées.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tag est mutable, un digest est immuable. En production, épingler au moins la version précise, idéalement le digest.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Alpine est petit mais musl peut surprendre (wheels Python). Slim est souvent le meilleur compromis. Distroless pour la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docker image history pour lire les couches, et save/load pour le hors-ligne.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Hub par défaut ; GHCR s'intègre à GitHub Actions. Un token à portée limitée plutôt qu'un mot de 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lab du registre privé avec volume prépare la notion de persistance.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04 : environ 3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transitions principales. Rappeler la différence entre stop (SIGTERM) et kill (SIGKILL).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 mesuré en session : sans --init, docker stop met 10,1 s et le code est 137 ; avec --init, 0,18 s et code 143.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EXPOSE est documentaire. Publier sur 127.0.0.1 par défaut en dev. La configuration vient de l'environnement (12 facteurs).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limite, un conteneur peut affamer l'hôte. L'OOM kill donne le code 137 et OOMKilled=true.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n'est pas une stratégie de prod. json-file n'a pas de rotation par défaut : disque plein garanti.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en 5 étapes, répétée dans le lab 4.5 avec cinq conteneurs volontairement cassés.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05 : environ 3 heures. Fichiers d'exemple : modules/05-dockerfile/app-python et app-node.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Dockerfile de l'application Flask du dépôt. Chaque instruction crée une couche.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 existe au build seulement, ENV persiste. COPY plutôt que ADD. Pas de secret dans ARG ni 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ENTRYPOINT = exécutable fixe, CMD = arguments par défaut remplaçables. Montrer le tableau de combinaison avec la démo 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en direct : modifier app.py et reconstruire. Seules les dernières couches sont rejouées (CACHED pour le reste).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Servir de checklist pour relire n'importe quel Dockerfile. hadolint automatise une partie du contrôle.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06 : environ 3 heures. Exemples : go-app et python-multistage.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compilateur reste dans l'étape build. Image finale distroless : pas de shell, utilisateur nonroot.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cache mount persiste hors de l'image. Le secret n'apparaît ni dans les couches ni dans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runners CI sont éphémères : sans cache distant chaque build repart de zéro. buildx produit un manifest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scratch, copier les certificats CA et tzdata, utiliser un UID numérique.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07 : environ 2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couche inscriptible disparaît avec le conteneur. Volume pour la prod, bind mount pour le dev, tmpfs pour le sensible.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: créer des données, supprimer le conteneur, en relancer un avec le même volume. Les données sont 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conteneur Alpine éphémère avec tar. Pour une base, préférer un dump logique cohérent.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UID doivent correspondre. SELinux demande :z ou :Z. Les volumes anonymes s'accumulent.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08 : environ 3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conteneur a son namespace réseau. Les pilotes relient ces namespaces.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bridge par défaut n'a pas de DNS par nom. Toujours créer ses réseaux.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 le proxy est publié. La base n'est pas joignable depuis le proxy et n'a pas d'accès Internet (réseau internal).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écrit dans iptables avant ufw. Une appli qui écoute sur 127.0.0.1 est injoignable depuis l'hôte.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conteneur netshoot partage le namespace réseau du conteneur cible : tcpdump, dig, ss, curl sans modifier l'image.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09 : environ 4 heures. La stack d'exemple est dans modules/09-compose/stack.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contraste entre une page de docker run et un fichier YAML versionné.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service est joignable par son nom sur le réseau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Distinguer .env (interpolation), env_file (injecté dans le conteneur) et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stack tourne réellement : vérifiée en session avec docker compose up --wait, scale web=3 et tests d'isolation.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watch pour le rechargement à chaud (sync, rebuild).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10 : environ 3 heures. Workflows dans modules/10-ci-cd/workflows.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: la même image, identifiée par son digest, traverse tous les environnements. Seule la configuration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SHA donne la traçabilité absolue, le semver aide les humains. Éviter latest pour déployer.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 minimales, cache GHA, SBOM et provenance. Le scan Trivy vise le digest de l'image construite.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--wait attend les healthchecks. Toujours afficher les logs en cas d'échec et nettoyer avec if: always().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rollback est un redéploiement du tag ou digest précédent. Documenter et répéter la procédure.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11 : environ 4 heures.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conteneur partage le noyau : une seule barrière ne suffit pas. Empiler les protections.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possible : lire /etc/shadow de l'hôte depuis un conteneur ayant le socket. À ne faire que sur une machine de 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Combiner tous les mécanismes : le fichier modules/11-securite/hardened/compose.yaml les réunit.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Scanner, produire un SBOM, signer, vérifier avant de déployer.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 secret a fuité dans une couche ou dans git, le révoquer : le supprimer ne suffit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12 : environ 3 heures. Stack d'exemple dans modules/12-observabilite/monitoring.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logs disent ce qui s'est passé, les métriques l'état, les traces où le temps est perdu.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ne redémarre pas un conteneur unhealthy ; Swarm et Kubernetes le font.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cAdvisor lit les cgroups, Prometheus collecte, Grafana affiche. Promtail envoie les logs vers Loki.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Alerter sur les symptômes (latence, erreurs) autant que sur les ressources.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13 : environ 4 heures. Fichiers : modules/13-orchestration/swarm et k8s.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orchestrateur transforme un état désiré en actions, dans une boucle de réconciliation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Swarm est simple et proche de Compose. Quorum Raft : 3 managers tolèrent 1 panne, 5 en tolèrent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Vos images Docker/OCI fonctionnent telles quelles dans Kubernetes. Ce sont les manifestes qui changent.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Équivalent durci : non-root, FS en lecture seule, capabilities supprimées, probes, requests et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Aucune solution universelle : adapter à la taille de l'équipe et au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14 : environ 4 heures. Script pédagogique : mini-docker.sh.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shim garde les flux ouverts et permet de redémarrer dockerd sans tuer les conteneurs. runc lit un bundle OCI : config.json + rootfs.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nsenter permet de déboguer un conteneur sans shell avec les outils de l'hôte. Le throttling CPU explique des latences sans CPU saturé.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dans la couche la plus haute, écriture par copy-up, suppression par whiteout.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Changer une seule variable à la fois. Comparer avec un conteneur 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script mini-docker.sh montre qu'un conteneur n'est que des appels noyau assemblés. Il lui manque réseau, couches, seccomp, userns.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15 : environ 6 heures. Code dans modules/15-projet-final/projet.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 le proxy est publié. La base est sur un réseau internal. Tout a été exécuté et vérifié pour de vrai.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confiance : ces résultats ont été obtenus lors de la relecture, sur un démon Docker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jalon réutilise un ou plusieurs modules. Livrables : dépôt, pipeline vert, rapport d'une page, démo de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Seuil de validation 70 sur 100. De 70 à 84 : Praticien. À partir de 85 : 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Encourager à pratiquer. Les labos corrigés et le projet servent de portfolio. La certification est un jalon, pas une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par cette checklist : c'est l'essentiel de la formation en une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les participants, rappeler le dépôt GitHub et inviter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4005072"/>
            <a:ext cx="868680" cy="521208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6967728" y="4005072"/>
            <a:ext cx="868680" cy="5212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7946136" y="4005072"/>
            <a:ext cx="868680" cy="521208"/>
          </a:xfrm>
          <a:prstGeom prst="rect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5989320" y="3374136"/>
            <a:ext cx="868680" cy="5212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967728" y="3374136"/>
            <a:ext cx="868680" cy="521208"/>
          </a:xfrm>
          <a:prstGeom prst="rect">
            <a:avLst/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5989320" y="2743200"/>
            <a:ext cx="868680" cy="5212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Docker, du débutant à l'expert · NZEMBOUONG Patrick</a:t>
            </a:r>
            <a:endParaRPr lang="en-US" sz="10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640080" y="914400"/>
            <a:ext cx="5212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640080" y="269748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4014216"/>
            <a:ext cx="640080" cy="384048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4014216"/>
            <a:ext cx="640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4014216"/>
            <a:ext cx="640080" cy="384048"/>
          </a:xfrm>
          <a:prstGeom prst="rect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3538728"/>
            <a:ext cx="640080" cy="38404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3538728"/>
            <a:ext cx="640080" cy="384048"/>
          </a:xfrm>
          <a:prstGeom prst="rect">
            <a:avLst/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3063240"/>
            <a:ext cx="640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Docker, du débutant à l'expert · NZEMBOUONG Patrick</a:t>
            </a:r>
            <a:endParaRPr lang="en-US" sz="10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Docker, du débutant à l'expert · NZEMBOUONG Patrick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image" Target="../media/image-40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8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image" Target="../media/image-94-3.png"/><Relationship Id="rId4" Type="http://schemas.openxmlformats.org/officeDocument/2006/relationships/image" Target="../media/image-94-4.png"/><Relationship Id="rId5" Type="http://schemas.openxmlformats.org/officeDocument/2006/relationships/image" Target="../media/image-9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640080" y="9144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Docker, du débutant à l'expert</a:t>
            </a:r>
            <a:endParaRPr lang="en-US" sz="4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640080" y="2697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Conteneurs, images, Compose, sécurité, CI/CD et orchestration</a:t>
            </a:r>
            <a:endParaRPr lang="en-US" sz="2000" dirty="0"/>
          </a:p>
        </p:txBody>
      </p:sp>
      <p:sp>
        <p:nvSpPr>
          <p:cNvPr id="4" name="Auteur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NZEMBOUONG Patrick</a:t>
            </a:r>
            <a:endParaRPr lang="en-US" sz="2000" dirty="0"/>
          </a:p>
        </p:txBody>
      </p:sp>
      <p:sp>
        <p:nvSpPr>
          <p:cNvPr id="5" name="Fonction"/>
          <p:cNvSpPr txBox="1"/>
          <p:nvPr/>
        </p:nvSpPr>
        <p:spPr>
          <a:xfrm>
            <a:off x="64008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Ingénieur DevOps Kubernetes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Ce que vous saurez faire à la fin</a:t>
            </a:r>
            <a:endParaRPr lang="en-US" sz="3000" dirty="0"/>
          </a:p>
        </p:txBody>
      </p:sp>
      <p:sp>
        <p:nvSpPr>
          <p:cNvPr id="4" name="Carte Comprendre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Cub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ube" descr="Icône FaC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Comprendre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qu'est vraiment un conteneur : namespaces, cgroups, couches. Plus de magie.</a:t>
            </a:r>
            <a:endParaRPr lang="en-US" sz="1400" dirty="0"/>
          </a:p>
        </p:txBody>
      </p:sp>
      <p:sp>
        <p:nvSpPr>
          <p:cNvPr id="9" name="Carte Maîtriser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Terminal"/>
          <p:cNvSpPr/>
          <p:nvPr/>
        </p:nvSpPr>
        <p:spPr>
          <a:xfrm>
            <a:off x="484632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ône FaTerminal" descr="Icône Fa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13248" y="13258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Maîtriser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4632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CLI, les Dockerfile propres et rapides, Compose pour les applications multi-services.</a:t>
            </a:r>
            <a:endParaRPr lang="en-US" sz="1400" dirty="0"/>
          </a:p>
        </p:txBody>
      </p:sp>
      <p:sp>
        <p:nvSpPr>
          <p:cNvPr id="14" name="Carte Sécuriser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ShieldAlt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ône FaShieldAlt" descr="Icône 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9125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30632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Sécuriser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40080" y="36758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Non-root, capabilities, scan de CVE, secrets, signature des images.</a:t>
            </a:r>
            <a:endParaRPr lang="en-US" sz="1400" dirty="0"/>
          </a:p>
        </p:txBody>
      </p:sp>
      <p:sp>
        <p:nvSpPr>
          <p:cNvPr id="19" name="Carte Livrer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Pastille FaRocket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Rocket" descr="Icône FaRock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9125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13248" y="30632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Livrer</a:t>
            </a:r>
            <a:endParaRPr lang="en-US" sz="1600" dirty="0"/>
          </a:p>
        </p:txBody>
      </p:sp>
      <p:sp>
        <p:nvSpPr>
          <p:cNvPr id="23" name="Texte carte"/>
          <p:cNvSpPr txBox="1"/>
          <p:nvPr/>
        </p:nvSpPr>
        <p:spPr>
          <a:xfrm>
            <a:off x="4846320" y="36758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CI/CD, observabilité, dépannage, puis passage à Swarm et Kubernetes.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Votre formateur</a:t>
            </a:r>
            <a:endParaRPr lang="en-US" sz="3000" dirty="0"/>
          </a:p>
        </p:txBody>
      </p:sp>
      <p:sp>
        <p:nvSpPr>
          <p:cNvPr id="4" name="Carte auteur"/>
          <p:cNvSpPr/>
          <p:nvPr/>
        </p:nvSpPr>
        <p:spPr>
          <a:xfrm>
            <a:off x="457200" y="1234440"/>
            <a:ext cx="384048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auteur FaGraduationCap"/>
          <p:cNvSpPr/>
          <p:nvPr/>
        </p:nvSpPr>
        <p:spPr>
          <a:xfrm>
            <a:off x="731520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GraduationCap" descr="Icône Fa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1689811"/>
            <a:ext cx="460858" cy="4608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NZEMBOUONG Patrick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Ingénieur DevOps Kubernetes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474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Auteur du dépôt et de ce support de cours</a:t>
            </a:r>
            <a:endParaRPr lang="en-US" sz="1400" dirty="0"/>
          </a:p>
        </p:txBody>
      </p:sp>
      <p:sp>
        <p:nvSpPr>
          <p:cNvPr id="10" name="Liste à puces"/>
          <p:cNvSpPr txBox="1"/>
          <p:nvPr/>
        </p:nvSpPr>
        <p:spPr>
          <a:xfrm>
            <a:off x="4572000" y="132588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Approche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expliquer le « pourquoi » avant le « comment ».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Méthode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théorie courte, démonstration, labo, quiz.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Fil rouge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application réelle, du poste de dev à la production.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Dépôt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github.com/nzembouong18/docker : tout est rejouable.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parcours en 16 modules</a:t>
            </a:r>
            <a:endParaRPr lang="en-US" sz="3000" dirty="0"/>
          </a:p>
        </p:txBody>
      </p:sp>
      <p:sp>
        <p:nvSpPr>
          <p:cNvPr id="4" name="Module 00"/>
          <p:cNvSpPr/>
          <p:nvPr/>
        </p:nvSpPr>
        <p:spPr>
          <a:xfrm>
            <a:off x="457200" y="1188720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9844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Prérequis</a:t>
            </a:r>
            <a:endParaRPr lang="en-US" sz="1400" dirty="0"/>
          </a:p>
        </p:txBody>
      </p:sp>
      <p:sp>
        <p:nvSpPr>
          <p:cNvPr id="8" name="Module 01"/>
          <p:cNvSpPr/>
          <p:nvPr/>
        </p:nvSpPr>
        <p:spPr>
          <a:xfrm>
            <a:off x="2542032" y="1188720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33472" y="129844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33472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12" name="Module 02"/>
          <p:cNvSpPr/>
          <p:nvPr/>
        </p:nvSpPr>
        <p:spPr>
          <a:xfrm>
            <a:off x="4626864" y="1188720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18304" y="129844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18304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193792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Installation &amp; CLI</a:t>
            </a:r>
            <a:endParaRPr lang="en-US" sz="1400" dirty="0"/>
          </a:p>
        </p:txBody>
      </p:sp>
      <p:sp>
        <p:nvSpPr>
          <p:cNvPr id="16" name="Module 03"/>
          <p:cNvSpPr/>
          <p:nvPr/>
        </p:nvSpPr>
        <p:spPr>
          <a:xfrm>
            <a:off x="6711696" y="1188720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03136" y="129844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03136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78624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Images &amp; registres</a:t>
            </a:r>
            <a:endParaRPr lang="en-US" sz="1400" dirty="0"/>
          </a:p>
        </p:txBody>
      </p:sp>
      <p:sp>
        <p:nvSpPr>
          <p:cNvPr id="20" name="Module 04"/>
          <p:cNvSpPr/>
          <p:nvPr/>
        </p:nvSpPr>
        <p:spPr>
          <a:xfrm>
            <a:off x="457200" y="1938528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04825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Conteneurs</a:t>
            </a:r>
            <a:endParaRPr lang="en-US" sz="1400" dirty="0"/>
          </a:p>
        </p:txBody>
      </p:sp>
      <p:sp>
        <p:nvSpPr>
          <p:cNvPr id="24" name="Module 05"/>
          <p:cNvSpPr/>
          <p:nvPr/>
        </p:nvSpPr>
        <p:spPr>
          <a:xfrm>
            <a:off x="2542032" y="1938528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33472" y="2048256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33472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108960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Dockerfile</a:t>
            </a:r>
            <a:endParaRPr lang="en-US" sz="1400" dirty="0"/>
          </a:p>
        </p:txBody>
      </p:sp>
      <p:sp>
        <p:nvSpPr>
          <p:cNvPr id="28" name="Module 06"/>
          <p:cNvSpPr/>
          <p:nvPr/>
        </p:nvSpPr>
        <p:spPr>
          <a:xfrm>
            <a:off x="4626864" y="1938528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18304" y="2048256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18304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193792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Dockerfile avancé</a:t>
            </a:r>
            <a:endParaRPr lang="en-US" sz="1400" dirty="0"/>
          </a:p>
        </p:txBody>
      </p:sp>
      <p:sp>
        <p:nvSpPr>
          <p:cNvPr id="32" name="Module 07"/>
          <p:cNvSpPr/>
          <p:nvPr/>
        </p:nvSpPr>
        <p:spPr>
          <a:xfrm>
            <a:off x="6711696" y="1938528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03136" y="2048256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03136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07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278624" y="19385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Volumes</a:t>
            </a:r>
            <a:endParaRPr lang="en-US" sz="1400" dirty="0"/>
          </a:p>
        </p:txBody>
      </p:sp>
      <p:sp>
        <p:nvSpPr>
          <p:cNvPr id="36" name="Module 08"/>
          <p:cNvSpPr/>
          <p:nvPr/>
        </p:nvSpPr>
        <p:spPr>
          <a:xfrm>
            <a:off x="457200" y="2688336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" y="2798064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08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24128" y="2688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Réseau</a:t>
            </a:r>
            <a:endParaRPr lang="en-US" sz="1400" dirty="0"/>
          </a:p>
        </p:txBody>
      </p:sp>
      <p:sp>
        <p:nvSpPr>
          <p:cNvPr id="40" name="Module 09"/>
          <p:cNvSpPr/>
          <p:nvPr/>
        </p:nvSpPr>
        <p:spPr>
          <a:xfrm>
            <a:off x="2542032" y="2688336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633472" y="2798064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633472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3108960" y="2688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Compose</a:t>
            </a:r>
            <a:endParaRPr lang="en-US" sz="1400" dirty="0"/>
          </a:p>
        </p:txBody>
      </p:sp>
      <p:sp>
        <p:nvSpPr>
          <p:cNvPr id="44" name="Module 10"/>
          <p:cNvSpPr/>
          <p:nvPr/>
        </p:nvSpPr>
        <p:spPr>
          <a:xfrm>
            <a:off x="4626864" y="2688336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18304" y="279806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718304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10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193792" y="2688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CI/CD</a:t>
            </a:r>
            <a:endParaRPr lang="en-US" sz="1400" dirty="0"/>
          </a:p>
        </p:txBody>
      </p:sp>
      <p:sp>
        <p:nvSpPr>
          <p:cNvPr id="48" name="Module 11"/>
          <p:cNvSpPr/>
          <p:nvPr/>
        </p:nvSpPr>
        <p:spPr>
          <a:xfrm>
            <a:off x="6711696" y="2688336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803136" y="279806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03136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11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7278624" y="26883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Sécurité</a:t>
            </a:r>
            <a:endParaRPr lang="en-US" sz="1400" dirty="0"/>
          </a:p>
        </p:txBody>
      </p:sp>
      <p:sp>
        <p:nvSpPr>
          <p:cNvPr id="52" name="Module 12"/>
          <p:cNvSpPr/>
          <p:nvPr/>
        </p:nvSpPr>
        <p:spPr>
          <a:xfrm>
            <a:off x="457200" y="3438144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" y="354787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86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12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1024128" y="3438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Observabilité</a:t>
            </a:r>
            <a:endParaRPr lang="en-US" sz="1400" dirty="0"/>
          </a:p>
        </p:txBody>
      </p:sp>
      <p:sp>
        <p:nvSpPr>
          <p:cNvPr id="56" name="Module 13"/>
          <p:cNvSpPr/>
          <p:nvPr/>
        </p:nvSpPr>
        <p:spPr>
          <a:xfrm>
            <a:off x="2542032" y="3438144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633472" y="3547872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633472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13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3108960" y="3438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Orchestration</a:t>
            </a:r>
            <a:endParaRPr lang="en-US" sz="1400" dirty="0"/>
          </a:p>
        </p:txBody>
      </p:sp>
      <p:sp>
        <p:nvSpPr>
          <p:cNvPr id="60" name="Module 14"/>
          <p:cNvSpPr/>
          <p:nvPr/>
        </p:nvSpPr>
        <p:spPr>
          <a:xfrm>
            <a:off x="4626864" y="3438144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718304" y="3547872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718304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14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5193792" y="3438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Expert</a:t>
            </a:r>
            <a:endParaRPr lang="en-US" sz="1400" dirty="0"/>
          </a:p>
        </p:txBody>
      </p:sp>
      <p:sp>
        <p:nvSpPr>
          <p:cNvPr id="64" name="Module 15"/>
          <p:cNvSpPr/>
          <p:nvPr/>
        </p:nvSpPr>
        <p:spPr>
          <a:xfrm>
            <a:off x="6711696" y="3438144"/>
            <a:ext cx="19659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803136" y="3547872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803136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15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7278624" y="3438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Projet final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457200" y="429768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5720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Débutant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691640" y="429768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6916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Intermédiaire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3200400" y="429768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20040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Avancé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4343400" y="4297680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434340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Expert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Comment travailler avec le dépôt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663440" cy="2505456"/>
          </a:xfrm>
          <a:prstGeom prst="roundRect">
            <a:avLst>
              <a:gd name="adj" fmla="val 21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arborescence"/>
          <p:cNvSpPr txBox="1"/>
          <p:nvPr/>
        </p:nvSpPr>
        <p:spPr>
          <a:xfrm>
            <a:off x="621792" y="1316736"/>
            <a:ext cx="43342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sommaire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01-introduction/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README.md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le cours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demo.md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démonstrations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lab.md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labos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solutions.md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quiz.md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 15-projet-final/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annexes/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aide-mémoire, DCA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.github/workflows/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CI du dépôt</a:t>
            </a:r>
            <a:endParaRPr lang="en-US" sz="1200" dirty="0"/>
          </a:p>
        </p:txBody>
      </p:sp>
      <p:sp>
        <p:nvSpPr>
          <p:cNvPr id="6" name="Liste à puces"/>
          <p:cNvSpPr txBox="1"/>
          <p:nvPr/>
        </p:nvSpPr>
        <p:spPr>
          <a:xfrm>
            <a:off x="5394960" y="12801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Lire le cours du module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Rejouer la démo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Faire le labo sans la solution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Vérifier avec le corrigé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Passer le quiz (≥ 80 %)</a:t>
            </a:r>
            <a:endParaRPr lang="en-US" sz="1600" dirty="0"/>
          </a:p>
        </p:txBody>
      </p:sp>
      <p:sp>
        <p:nvSpPr>
          <p:cNvPr id="7" name="Encadré Astuce"/>
          <p:cNvSpPr/>
          <p:nvPr/>
        </p:nvSpPr>
        <p:spPr>
          <a:xfrm>
            <a:off x="5394960" y="365760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stille encadré FaLightbulb"/>
          <p:cNvSpPr/>
          <p:nvPr/>
        </p:nvSpPr>
        <p:spPr>
          <a:xfrm>
            <a:off x="5532120" y="38862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2587" y="396666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6035040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prérequis : Docker ≥ 24, Compose v2, Git. Vérifiez avec ./scripts/check-env.sh.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Introduction aux conteneurs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Pourquoi et comment ça marche, avant la moindre commande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problème : « ça marche chez moi »</a:t>
            </a:r>
            <a:endParaRPr lang="en-US" sz="3000" dirty="0"/>
          </a:p>
        </p:txBody>
      </p:sp>
      <p:sp>
        <p:nvSpPr>
          <p:cNvPr id="4" name="Carte Sans conteneur"/>
          <p:cNvSpPr/>
          <p:nvPr/>
        </p:nvSpPr>
        <p:spPr>
          <a:xfrm>
            <a:off x="45720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Bug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ône FaBug" descr="Icône 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Sans conteneur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OS, runtime et bibliothèques diffèrent entre le poste, la CI, la préproduction et la production. Les bugs apparaissent aux frontières.</a:t>
            </a:r>
            <a:endParaRPr lang="en-US" sz="1500" dirty="0"/>
          </a:p>
        </p:txBody>
      </p:sp>
      <p:sp>
        <p:nvSpPr>
          <p:cNvPr id="9" name="Carte Avec conteneur"/>
          <p:cNvSpPr/>
          <p:nvPr/>
        </p:nvSpPr>
        <p:spPr>
          <a:xfrm>
            <a:off x="470916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BoxOpen"/>
          <p:cNvSpPr/>
          <p:nvPr/>
        </p:nvSpPr>
        <p:spPr>
          <a:xfrm>
            <a:off x="489204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FaBoxOpen" descr="Icône FaBox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5896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Avec conteneur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92040" y="193852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L'application voyage avec ses dépendances dans une unité standard, portable et reproductible. Même image partout.</a:t>
            </a:r>
            <a:endParaRPr lang="en-US" sz="1500" dirty="0"/>
          </a:p>
        </p:txBody>
      </p:sp>
      <p:sp>
        <p:nvSpPr>
          <p:cNvPr id="14" name="Étape Poste dev"/>
          <p:cNvSpPr/>
          <p:nvPr/>
        </p:nvSpPr>
        <p:spPr>
          <a:xfrm>
            <a:off x="457200" y="3474720"/>
            <a:ext cx="1769364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502920" y="3474720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Poste dev</a:t>
            </a:r>
            <a:endParaRPr lang="en-US" sz="1400" dirty="0"/>
          </a:p>
        </p:txBody>
      </p:sp>
      <p:sp>
        <p:nvSpPr>
          <p:cNvPr id="16" name="Flèche"/>
          <p:cNvSpPr/>
          <p:nvPr/>
        </p:nvSpPr>
        <p:spPr>
          <a:xfrm>
            <a:off x="2281428" y="36758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Étape CI"/>
          <p:cNvSpPr/>
          <p:nvPr/>
        </p:nvSpPr>
        <p:spPr>
          <a:xfrm>
            <a:off x="2610612" y="3474720"/>
            <a:ext cx="1769364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2656332" y="3474720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</a:t>
            </a:r>
            <a:endParaRPr lang="en-US" sz="1400" dirty="0"/>
          </a:p>
        </p:txBody>
      </p:sp>
      <p:sp>
        <p:nvSpPr>
          <p:cNvPr id="19" name="Flèche"/>
          <p:cNvSpPr/>
          <p:nvPr/>
        </p:nvSpPr>
        <p:spPr>
          <a:xfrm>
            <a:off x="4434840" y="36758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Préprod"/>
          <p:cNvSpPr/>
          <p:nvPr/>
        </p:nvSpPr>
        <p:spPr>
          <a:xfrm>
            <a:off x="4764024" y="3474720"/>
            <a:ext cx="1769364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4809744" y="3474720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Préprod</a:t>
            </a:r>
            <a:endParaRPr lang="en-US" sz="1400" dirty="0"/>
          </a:p>
        </p:txBody>
      </p:sp>
      <p:sp>
        <p:nvSpPr>
          <p:cNvPr id="22" name="Flèche"/>
          <p:cNvSpPr/>
          <p:nvPr/>
        </p:nvSpPr>
        <p:spPr>
          <a:xfrm>
            <a:off x="6588252" y="36758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Étape Production"/>
          <p:cNvSpPr/>
          <p:nvPr/>
        </p:nvSpPr>
        <p:spPr>
          <a:xfrm>
            <a:off x="6917436" y="3474720"/>
            <a:ext cx="1769364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963156" y="3474720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Build once, run anywhere : la même image traverse tous les environnements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Machine virtuelle ou conteneur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Machines virtuelles</a:t>
            </a:r>
            <a:endParaRPr lang="en-US" sz="1600" dirty="0"/>
          </a:p>
        </p:txBody>
      </p:sp>
      <p:sp>
        <p:nvSpPr>
          <p:cNvPr id="5" name="Bloc App A"/>
          <p:cNvSpPr/>
          <p:nvPr/>
        </p:nvSpPr>
        <p:spPr>
          <a:xfrm>
            <a:off x="457200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A</a:t>
            </a:r>
            <a:endParaRPr lang="en-US" sz="1200" dirty="0"/>
          </a:p>
        </p:txBody>
      </p:sp>
      <p:sp>
        <p:nvSpPr>
          <p:cNvPr id="7" name="Bloc App B"/>
          <p:cNvSpPr/>
          <p:nvPr/>
        </p:nvSpPr>
        <p:spPr>
          <a:xfrm>
            <a:off x="1764792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10512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B</a:t>
            </a:r>
            <a:endParaRPr lang="en-US" sz="1200" dirty="0"/>
          </a:p>
        </p:txBody>
      </p:sp>
      <p:sp>
        <p:nvSpPr>
          <p:cNvPr id="9" name="Bloc App C"/>
          <p:cNvSpPr/>
          <p:nvPr/>
        </p:nvSpPr>
        <p:spPr>
          <a:xfrm>
            <a:off x="3072384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18104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C</a:t>
            </a:r>
            <a:endParaRPr lang="en-US" sz="1200" dirty="0"/>
          </a:p>
        </p:txBody>
      </p:sp>
      <p:sp>
        <p:nvSpPr>
          <p:cNvPr id="11" name="Bloc OS invité"/>
          <p:cNvSpPr/>
          <p:nvPr/>
        </p:nvSpPr>
        <p:spPr>
          <a:xfrm>
            <a:off x="457200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OS invité</a:t>
            </a:r>
            <a:endParaRPr lang="en-US" sz="1200" dirty="0"/>
          </a:p>
        </p:txBody>
      </p:sp>
      <p:sp>
        <p:nvSpPr>
          <p:cNvPr id="13" name="Bloc OS invité"/>
          <p:cNvSpPr/>
          <p:nvPr/>
        </p:nvSpPr>
        <p:spPr>
          <a:xfrm>
            <a:off x="1764792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10512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OS invité</a:t>
            </a:r>
            <a:endParaRPr lang="en-US" sz="1200" dirty="0"/>
          </a:p>
        </p:txBody>
      </p:sp>
      <p:sp>
        <p:nvSpPr>
          <p:cNvPr id="15" name="Bloc OS invité"/>
          <p:cNvSpPr/>
          <p:nvPr/>
        </p:nvSpPr>
        <p:spPr>
          <a:xfrm>
            <a:off x="3072384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18104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OS invité</a:t>
            </a:r>
            <a:endParaRPr lang="en-US" sz="1200" dirty="0"/>
          </a:p>
        </p:txBody>
      </p:sp>
      <p:sp>
        <p:nvSpPr>
          <p:cNvPr id="17" name="Bloc Hyperviseur"/>
          <p:cNvSpPr/>
          <p:nvPr/>
        </p:nvSpPr>
        <p:spPr>
          <a:xfrm>
            <a:off x="457200" y="242316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423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Hyperviseur</a:t>
            </a:r>
            <a:endParaRPr lang="en-US" sz="1300" dirty="0"/>
          </a:p>
        </p:txBody>
      </p:sp>
      <p:sp>
        <p:nvSpPr>
          <p:cNvPr id="19" name="Bloc OS hôte + matériel"/>
          <p:cNvSpPr/>
          <p:nvPr/>
        </p:nvSpPr>
        <p:spPr>
          <a:xfrm>
            <a:off x="457200" y="2852928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852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OS hôte + matériel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Conteneurs</a:t>
            </a:r>
            <a:endParaRPr lang="en-US" sz="1600" dirty="0"/>
          </a:p>
        </p:txBody>
      </p:sp>
      <p:sp>
        <p:nvSpPr>
          <p:cNvPr id="22" name="Bloc App A"/>
          <p:cNvSpPr/>
          <p:nvPr/>
        </p:nvSpPr>
        <p:spPr>
          <a:xfrm>
            <a:off x="4846320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A</a:t>
            </a:r>
            <a:endParaRPr lang="en-US" sz="1200" dirty="0"/>
          </a:p>
        </p:txBody>
      </p:sp>
      <p:sp>
        <p:nvSpPr>
          <p:cNvPr id="24" name="Bloc App B"/>
          <p:cNvSpPr/>
          <p:nvPr/>
        </p:nvSpPr>
        <p:spPr>
          <a:xfrm>
            <a:off x="6153912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99632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B</a:t>
            </a:r>
            <a:endParaRPr lang="en-US" sz="1200" dirty="0"/>
          </a:p>
        </p:txBody>
      </p:sp>
      <p:sp>
        <p:nvSpPr>
          <p:cNvPr id="26" name="Bloc App C"/>
          <p:cNvSpPr/>
          <p:nvPr/>
        </p:nvSpPr>
        <p:spPr>
          <a:xfrm>
            <a:off x="7461504" y="15087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07224" y="1508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 C</a:t>
            </a:r>
            <a:endParaRPr lang="en-US" sz="1200" dirty="0"/>
          </a:p>
        </p:txBody>
      </p:sp>
      <p:sp>
        <p:nvSpPr>
          <p:cNvPr id="28" name="Bloc Libs"/>
          <p:cNvSpPr/>
          <p:nvPr/>
        </p:nvSpPr>
        <p:spPr>
          <a:xfrm>
            <a:off x="4846320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Libs</a:t>
            </a:r>
            <a:endParaRPr lang="en-US" sz="1200" dirty="0"/>
          </a:p>
        </p:txBody>
      </p:sp>
      <p:sp>
        <p:nvSpPr>
          <p:cNvPr id="30" name="Bloc Libs"/>
          <p:cNvSpPr/>
          <p:nvPr/>
        </p:nvSpPr>
        <p:spPr>
          <a:xfrm>
            <a:off x="6153912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99632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Libs</a:t>
            </a:r>
            <a:endParaRPr lang="en-US" sz="1200" dirty="0"/>
          </a:p>
        </p:txBody>
      </p:sp>
      <p:sp>
        <p:nvSpPr>
          <p:cNvPr id="32" name="Bloc Libs"/>
          <p:cNvSpPr/>
          <p:nvPr/>
        </p:nvSpPr>
        <p:spPr>
          <a:xfrm>
            <a:off x="7461504" y="1965960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07224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Libs</a:t>
            </a:r>
            <a:endParaRPr lang="en-US" sz="1200" dirty="0"/>
          </a:p>
        </p:txBody>
      </p:sp>
      <p:sp>
        <p:nvSpPr>
          <p:cNvPr id="34" name="Bloc Docker Engine"/>
          <p:cNvSpPr/>
          <p:nvPr/>
        </p:nvSpPr>
        <p:spPr>
          <a:xfrm>
            <a:off x="4846320" y="2423160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92040" y="2423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Engine</a:t>
            </a:r>
            <a:endParaRPr lang="en-US" sz="1300" dirty="0"/>
          </a:p>
        </p:txBody>
      </p:sp>
      <p:sp>
        <p:nvSpPr>
          <p:cNvPr id="36" name="Bloc OS hôte (noyau parta"/>
          <p:cNvSpPr/>
          <p:nvPr/>
        </p:nvSpPr>
        <p:spPr>
          <a:xfrm>
            <a:off x="4846320" y="2852928"/>
            <a:ext cx="384048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92040" y="2852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OS hôte (noyau partagé) + matériel</a:t>
            </a:r>
            <a:endParaRPr lang="en-US" sz="1300" dirty="0"/>
          </a:p>
        </p:txBody>
      </p:sp>
      <p:graphicFrame>
        <p:nvGraphicFramePr>
          <p:cNvPr id="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Conteneur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Taille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Démarrage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Minutes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Secondes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Isolation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Forte (noyau dédié)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Plus faible (noyau partagé)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Trois briques du noyau Linux</a:t>
            </a:r>
            <a:endParaRPr lang="en-US" sz="3000" dirty="0"/>
          </a:p>
        </p:txBody>
      </p:sp>
      <p:sp>
        <p:nvSpPr>
          <p:cNvPr id="4" name="Carte Namespaces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Ey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Eye" descr="Icône 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Namespaces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que le processus VOIT : ses PID, son réseau, ses montages, son hostname.</a:t>
            </a:r>
            <a:endParaRPr lang="en-US" sz="1400" dirty="0"/>
          </a:p>
        </p:txBody>
      </p:sp>
      <p:sp>
        <p:nvSpPr>
          <p:cNvPr id="9" name="Carte cgroups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TachometerAlt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TachometerAlt" descr="Icône FaTachomet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cgroups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qu'il peut CONSOMMER : CPU, mémoire, I/O, nombre de processus.</a:t>
            </a:r>
            <a:endParaRPr lang="en-US" sz="1400" dirty="0"/>
          </a:p>
        </p:txBody>
      </p:sp>
      <p:sp>
        <p:nvSpPr>
          <p:cNvPr id="14" name="Carte OverlayFS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LayerGroup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LayerGroup" descr="Icône 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OverlayFS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 FICHIERS : des couches en lecture seule empilées + une couche inscriptible.</a:t>
            </a:r>
            <a:endParaRPr lang="en-US" sz="1400" dirty="0"/>
          </a:p>
        </p:txBody>
      </p:sp>
      <p:sp>
        <p:nvSpPr>
          <p:cNvPr id="19" name="Encadré À retenir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astille encadré FaCheckCircle"/>
          <p:cNvSpPr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ône FaCheckCircle" descr="Icône 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401238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74904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conteneur = un processus isolé (namespaces), limité (cgroups), avec un système de fichiers en couches.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de Docker</a:t>
            </a:r>
            <a:endParaRPr lang="en-US" sz="3000" dirty="0"/>
          </a:p>
        </p:txBody>
      </p:sp>
      <p:sp>
        <p:nvSpPr>
          <p:cNvPr id="4" name="Étape docker CLI"/>
          <p:cNvSpPr/>
          <p:nvPr/>
        </p:nvSpPr>
        <p:spPr>
          <a:xfrm>
            <a:off x="457200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 CLI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Client en ligne de commande, parle HTTP au démon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850746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dockerd"/>
          <p:cNvSpPr/>
          <p:nvPr/>
        </p:nvSpPr>
        <p:spPr>
          <a:xfrm>
            <a:off x="2179930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225650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34210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Démon : API, réseaux, volumes, build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3573475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containerd"/>
          <p:cNvSpPr/>
          <p:nvPr/>
        </p:nvSpPr>
        <p:spPr>
          <a:xfrm>
            <a:off x="3902659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948379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containerd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56939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Images, snapshots, cycle de vie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5296205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runc"/>
          <p:cNvSpPr/>
          <p:nvPr/>
        </p:nvSpPr>
        <p:spPr>
          <a:xfrm>
            <a:off x="5625389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71109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runc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79669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Runtime OCI : crée namespaces + cgroups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7018934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Conteneur"/>
          <p:cNvSpPr/>
          <p:nvPr/>
        </p:nvSpPr>
        <p:spPr>
          <a:xfrm>
            <a:off x="7348118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93838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Conteneur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02398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processus de votre application</a:t>
            </a:r>
            <a:endParaRPr lang="en-US" sz="1200" dirty="0"/>
          </a:p>
        </p:txBody>
      </p:sp>
      <p:sp>
        <p:nvSpPr>
          <p:cNvPr id="23" name="Bloc Registry : Docker Hu"/>
          <p:cNvSpPr/>
          <p:nvPr/>
        </p:nvSpPr>
        <p:spPr>
          <a:xfrm>
            <a:off x="2331720" y="3246120"/>
            <a:ext cx="4480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77440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Registry : Docker Hub, GHCR, ECR, Harbor…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pull / push</a:t>
            </a:r>
            <a:endParaRPr lang="en-US" sz="1300" dirty="0"/>
          </a:p>
        </p:txBody>
      </p:sp>
      <p:sp>
        <p:nvSpPr>
          <p:cNvPr id="26" name="Encadré Attention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Pastille encadré FaExclamationTriangle"/>
          <p:cNvSpPr/>
          <p:nvPr/>
        </p:nvSpPr>
        <p:spPr>
          <a:xfrm>
            <a:off x="594360" y="40919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Icône FaExclamationTriangle" descr="Icône 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72407"/>
            <a:ext cx="204826" cy="204826"/>
          </a:xfrm>
          <a:prstGeom prst="rect">
            <a:avLst/>
          </a:prstGeom>
        </p:spPr>
      </p:pic>
      <p:sp>
        <p:nvSpPr>
          <p:cNvPr id="29" name="Texte encadré"/>
          <p:cNvSpPr txBox="1"/>
          <p:nvPr/>
        </p:nvSpPr>
        <p:spPr>
          <a:xfrm>
            <a:off x="1097280" y="393192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socket /var/run/docker.sock donne un accès root à l'hôte : ne le montez jamais dans un conteneur applicatif.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Vocabulaire fondamental</a:t>
            </a:r>
            <a:endParaRPr lang="en-US" sz="3000" dirty="0"/>
          </a:p>
        </p:txBody>
      </p:sp>
      <p:graphicFrame>
        <p:nvGraphicFramePr>
          <p:cNvPr id="12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Terme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Définition simple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Modèle immuable en couches (comme une classe)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Conteneur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Instance en exécution d'une image (comme un objet)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Dockerfile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Recette textuelle pour construire une image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Registry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Serveur qui stocke et distribue les images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Stockage persistant géré par Docker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Compose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Décrit une application multi-conteneurs en YAML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cycle de vie global</a:t>
            </a:r>
            <a:endParaRPr lang="en-US" sz="3000" dirty="0"/>
          </a:p>
        </p:txBody>
      </p:sp>
      <p:sp>
        <p:nvSpPr>
          <p:cNvPr id="4" name="Étape Dockerfile"/>
          <p:cNvSpPr/>
          <p:nvPr/>
        </p:nvSpPr>
        <p:spPr>
          <a:xfrm>
            <a:off x="457200" y="155448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55448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Dockerfile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45059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build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850746" y="18470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Image"/>
          <p:cNvSpPr/>
          <p:nvPr/>
        </p:nvSpPr>
        <p:spPr>
          <a:xfrm>
            <a:off x="2179930" y="155448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225650" y="155448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34210" y="245059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couches immuables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3573475" y="18470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Registry"/>
          <p:cNvSpPr/>
          <p:nvPr/>
        </p:nvSpPr>
        <p:spPr>
          <a:xfrm>
            <a:off x="3902659" y="155448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948379" y="155448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56939" y="245059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push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5296205" y="18470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Image"/>
          <p:cNvSpPr/>
          <p:nvPr/>
        </p:nvSpPr>
        <p:spPr>
          <a:xfrm>
            <a:off x="5625389" y="155448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71109" y="155448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79669" y="245059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pull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7018934" y="18470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Conteneur"/>
          <p:cNvSpPr/>
          <p:nvPr/>
        </p:nvSpPr>
        <p:spPr>
          <a:xfrm>
            <a:off x="7348118" y="155448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93838" y="155448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Conteneur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02398" y="245059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run</a:t>
            </a:r>
            <a:endParaRPr lang="en-US" sz="1200" dirty="0"/>
          </a:p>
        </p:txBody>
      </p:sp>
      <p:sp>
        <p:nvSpPr>
          <p:cNvPr id="23" name="Encadré À retenir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astille encadré FaCheckCircle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920947"/>
            <a:ext cx="204826" cy="204826"/>
          </a:xfrm>
          <a:prstGeom prst="rect">
            <a:avLst/>
          </a:prstGeom>
        </p:spPr>
      </p:pic>
      <p:sp>
        <p:nvSpPr>
          <p:cNvPr id="26" name="Texte encadré"/>
          <p:cNvSpPr txBox="1"/>
          <p:nvPr/>
        </p:nvSpPr>
        <p:spPr>
          <a:xfrm>
            <a:off x="1097280" y="36576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OCI : la même image fonctionne avec Docker, Podman, containerd et Kubernetes.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vous de jouer : labos du module 01</a:t>
            </a:r>
            <a:endParaRPr lang="en-US" sz="3000" dirty="0"/>
          </a:p>
        </p:txBody>
      </p:sp>
      <p:sp>
        <p:nvSpPr>
          <p:cNvPr id="4" name="Carte Observer l'isolation"/>
          <p:cNvSpPr/>
          <p:nvPr/>
        </p:nvSpPr>
        <p:spPr>
          <a:xfrm>
            <a:off x="4572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Search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Icône 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Observer l'isolation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Comparer les namespaces d'un conteneur nginx et de votre shell avec /proc/&lt;pid&gt;/ns.</a:t>
            </a:r>
            <a:endParaRPr lang="en-US" sz="1400" dirty="0"/>
          </a:p>
        </p:txBody>
      </p:sp>
      <p:sp>
        <p:nvSpPr>
          <p:cNvPr id="9" name="Carte Limiter les ressources"/>
          <p:cNvSpPr/>
          <p:nvPr/>
        </p:nvSpPr>
        <p:spPr>
          <a:xfrm>
            <a:off x="32766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TachometerAlt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TachometerAlt" descr="Icône FaTachomet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Limiter les ressources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Lancer un conteneur à 0,5 CPU et 64 Mo, et le constater avec docker stats.</a:t>
            </a:r>
            <a:endParaRPr lang="en-US" sz="1400" dirty="0"/>
          </a:p>
        </p:txBody>
      </p:sp>
      <p:sp>
        <p:nvSpPr>
          <p:cNvPr id="14" name="Carte VM ou conteneur ?"/>
          <p:cNvSpPr/>
          <p:nvPr/>
        </p:nvSpPr>
        <p:spPr>
          <a:xfrm>
            <a:off x="60960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Sitemap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Sitemap" descr="Icône Fa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VM ou conteneur ?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Justifier le choix pour 4 scénarios (50 APIs, Windows, code non fiable, dev).</a:t>
            </a:r>
            <a:endParaRPr lang="en-US" sz="1400" dirty="0"/>
          </a:p>
        </p:txBody>
      </p:sp>
      <p:sp>
        <p:nvSpPr>
          <p:cNvPr id="19" name="Encadré Labo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astille encadré FaFlask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Flask" descr="Icône 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modules/01-introduction/lab.md : démos et labos corrigés dans le dépôt.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Installation et prise en main de la CLI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Installer Docker et maîtriser docker run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Installer Docker Engine (Ubuntu)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394960" cy="2657856"/>
          </a:xfrm>
          <a:prstGeom prst="roundRect">
            <a:avLst>
              <a:gd name="adj" fmla="val 20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installation"/>
          <p:cNvSpPr txBox="1"/>
          <p:nvPr/>
        </p:nvSpPr>
        <p:spPr>
          <a:xfrm>
            <a:off x="621792" y="1316736"/>
            <a:ext cx="5065776" cy="240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Dépôt officiel Docker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ca-certificates curl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install -m 0755 -d /etc/apt/keyrings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ajouter la clé et le dépôt (voir docs.docker.com)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Installation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docker-ce docker-ce-cli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containerd.io docker-buildx-plugin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docker-compose-plugin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Utiliser docker sans sudo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usermod -aG docker $USER &amp;&amp; newgrp docker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100" dirty="0"/>
          </a:p>
        </p:txBody>
      </p:sp>
      <p:sp>
        <p:nvSpPr>
          <p:cNvPr id="6" name="Carte macOS / Windows"/>
          <p:cNvSpPr/>
          <p:nvPr/>
        </p:nvSpPr>
        <p:spPr>
          <a:xfrm>
            <a:off x="6035040" y="118872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Desktop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Desktop" descr="Icône Fa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4" y="1453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84848" y="13258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macOS / Windows</a:t>
            </a:r>
            <a:endParaRPr lang="en-US" sz="1600" dirty="0"/>
          </a:p>
        </p:txBody>
      </p:sp>
      <p:sp>
        <p:nvSpPr>
          <p:cNvPr id="10" name="Texte carte"/>
          <p:cNvSpPr txBox="1"/>
          <p:nvPr/>
        </p:nvSpPr>
        <p:spPr>
          <a:xfrm>
            <a:off x="6217920" y="193852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Docker Desktop (WSL2 sous Windows).</a:t>
            </a:r>
            <a:endParaRPr lang="en-US" sz="1300" dirty="0"/>
          </a:p>
        </p:txBody>
      </p:sp>
      <p:sp>
        <p:nvSpPr>
          <p:cNvPr id="11" name="Carte Sans installer"/>
          <p:cNvSpPr/>
          <p:nvPr/>
        </p:nvSpPr>
        <p:spPr>
          <a:xfrm>
            <a:off x="6035040" y="2532888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Cloud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cône FaCloud" descr="Icône Fa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27980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84848" y="267004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Sans installer</a:t>
            </a:r>
            <a:endParaRPr lang="en-US" sz="1600" dirty="0"/>
          </a:p>
        </p:txBody>
      </p:sp>
      <p:sp>
        <p:nvSpPr>
          <p:cNvPr id="15" name="Texte carte"/>
          <p:cNvSpPr txBox="1"/>
          <p:nvPr/>
        </p:nvSpPr>
        <p:spPr>
          <a:xfrm>
            <a:off x="6217920" y="328269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Play with Docker ou un Codespace.</a:t>
            </a:r>
            <a:endParaRPr lang="en-US" sz="1300" dirty="0"/>
          </a:p>
        </p:txBody>
      </p:sp>
      <p:sp>
        <p:nvSpPr>
          <p:cNvPr id="16" name="Encadré Attention"/>
          <p:cNvSpPr/>
          <p:nvPr/>
        </p:nvSpPr>
        <p:spPr>
          <a:xfrm>
            <a:off x="6035040" y="384048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 encadré FaExclamationTriangle"/>
          <p:cNvSpPr/>
          <p:nvPr/>
        </p:nvSpPr>
        <p:spPr>
          <a:xfrm>
            <a:off x="6172200" y="40005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ône FaExclamationTriangle" descr="Icône 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67" y="408096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6675120" y="3840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groupe docker = accès root (mode rootless : module 11).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Anatomie de docker run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02336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docker run"/>
          <p:cNvSpPr txBox="1"/>
          <p:nvPr/>
        </p:nvSpPr>
        <p:spPr>
          <a:xfrm>
            <a:off x="621792" y="1316736"/>
            <a:ext cx="369417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[OPTIONS] IMAGE [COMMANDE]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8080:80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MODE=prod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data:/var/lib/x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--restart unless-stopped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nginx:1.27-alpine</a:t>
            </a:r>
            <a:endParaRPr lang="en-US" sz="1100" dirty="0"/>
          </a:p>
        </p:txBody>
      </p:sp>
      <p:graphicFrame>
        <p:nvGraphicFramePr>
          <p:cNvPr id="17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arrière-plan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shell interactif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--name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nom du conteneur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-p H:C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publie un 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-e K=V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variable d'env.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volume / bind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--rm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supprime à l'arrêt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-m, --cpus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limites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Encadré Astuce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stille encadré FaLightbulb"/>
          <p:cNvSpPr/>
          <p:nvPr/>
        </p:nvSpPr>
        <p:spPr>
          <a:xfrm>
            <a:off x="594360" y="41833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6384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406908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nommez toujours vos conteneurs et pinnez les tags : nginx:1.27-alpine, jamais latest.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Premier serveur web, pas à pas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225296"/>
          </a:xfrm>
          <a:prstGeom prst="roundRect">
            <a:avLst>
              <a:gd name="adj" fmla="val 4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web"/>
          <p:cNvSpPr txBox="1"/>
          <p:nvPr/>
        </p:nvSpPr>
        <p:spPr>
          <a:xfrm>
            <a:off x="621792" y="1316736"/>
            <a:ext cx="7900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-p 8080:80 nginx:1.27-alpine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http://localhost:8080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page d'accueil nginx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logs web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journaux du conteneur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exec -it web sh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shell dans le conteneur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stop web &amp;&amp; docker rm web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arrêt puis suppression</a:t>
            </a:r>
            <a:endParaRPr lang="en-US" sz="1200" dirty="0"/>
          </a:p>
        </p:txBody>
      </p:sp>
      <p:sp>
        <p:nvSpPr>
          <p:cNvPr id="6" name="Carte Un conteneur vit"/>
          <p:cNvSpPr/>
          <p:nvPr/>
        </p:nvSpPr>
        <p:spPr>
          <a:xfrm>
            <a:off x="457200" y="3291840"/>
            <a:ext cx="26212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Play"/>
          <p:cNvSpPr/>
          <p:nvPr/>
        </p:nvSpPr>
        <p:spPr>
          <a:xfrm>
            <a:off x="640080" y="34564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ône FaPlay" descr="Icône 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5570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34290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conteneur vit</a:t>
            </a:r>
            <a:endParaRPr lang="en-US" sz="1600" dirty="0"/>
          </a:p>
        </p:txBody>
      </p:sp>
      <p:sp>
        <p:nvSpPr>
          <p:cNvPr id="10" name="Texte carte"/>
          <p:cNvSpPr txBox="1"/>
          <p:nvPr/>
        </p:nvSpPr>
        <p:spPr>
          <a:xfrm>
            <a:off x="640080" y="4041648"/>
            <a:ext cx="225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tant que son processus principal vit.</a:t>
            </a:r>
            <a:endParaRPr lang="en-US" sz="1300" dirty="0"/>
          </a:p>
        </p:txBody>
      </p:sp>
      <p:sp>
        <p:nvSpPr>
          <p:cNvPr id="11" name="Carte exec"/>
          <p:cNvSpPr/>
          <p:nvPr/>
        </p:nvSpPr>
        <p:spPr>
          <a:xfrm>
            <a:off x="3261360" y="3291840"/>
            <a:ext cx="26212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Terminal"/>
          <p:cNvSpPr/>
          <p:nvPr/>
        </p:nvSpPr>
        <p:spPr>
          <a:xfrm>
            <a:off x="3444240" y="34564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ône FaTerminal" descr="Icône Fa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35570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11168" y="34290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exec</a:t>
            </a:r>
            <a:endParaRPr lang="en-US" sz="1600" dirty="0"/>
          </a:p>
        </p:txBody>
      </p:sp>
      <p:sp>
        <p:nvSpPr>
          <p:cNvPr id="15" name="Texte carte"/>
          <p:cNvSpPr txBox="1"/>
          <p:nvPr/>
        </p:nvSpPr>
        <p:spPr>
          <a:xfrm>
            <a:off x="3444240" y="4041648"/>
            <a:ext cx="225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lance un NOUVEAU processus dans le conteneur.</a:t>
            </a:r>
            <a:endParaRPr lang="en-US" sz="1300" dirty="0"/>
          </a:p>
        </p:txBody>
      </p:sp>
      <p:sp>
        <p:nvSpPr>
          <p:cNvPr id="16" name="Carte --rm"/>
          <p:cNvSpPr/>
          <p:nvPr/>
        </p:nvSpPr>
        <p:spPr>
          <a:xfrm>
            <a:off x="6065520" y="3291840"/>
            <a:ext cx="26212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Pastille FaTrash"/>
          <p:cNvSpPr/>
          <p:nvPr/>
        </p:nvSpPr>
        <p:spPr>
          <a:xfrm>
            <a:off x="6248400" y="34564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ône FaTrash" descr="Icône FaTr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84" y="355701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5328" y="34290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--rm</a:t>
            </a:r>
            <a:endParaRPr lang="en-US" sz="1600" dirty="0"/>
          </a:p>
        </p:txBody>
      </p:sp>
      <p:sp>
        <p:nvSpPr>
          <p:cNvPr id="20" name="Texte carte"/>
          <p:cNvSpPr txBox="1"/>
          <p:nvPr/>
        </p:nvSpPr>
        <p:spPr>
          <a:xfrm>
            <a:off x="6248400" y="4041648"/>
            <a:ext cx="225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supprime automatiquement à l'arrêt : idéal pour tester.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commandes de gestion au quotidien</a:t>
            </a:r>
            <a:endParaRPr lang="en-US" sz="3000" dirty="0"/>
          </a:p>
        </p:txBody>
      </p:sp>
      <p:graphicFrame>
        <p:nvGraphicFramePr>
          <p:cNvPr id="1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Conteneurs actifs / tous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ps  ·  docker ps -a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Arrêter, démarrer, redémarrer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stop|start|restart NOM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Logs en direct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logs -f --tail 100 NOM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Détails d'un champ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inspect -f '{{.State.Status}}' NOM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Ressources en direct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stats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Copier un fichier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cp NOM:/chemin ./local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Espace disque Docker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system 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 de sortie : lire un échec</a:t>
            </a:r>
            <a:endParaRPr lang="en-US" sz="3000" dirty="0"/>
          </a:p>
        </p:txBody>
      </p:sp>
      <p:graphicFrame>
        <p:nvGraphicFramePr>
          <p:cNvPr id="2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Signification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Cause typique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Succès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 processus s'est terminé normalement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Erreur de l'application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Exception, mauvaise config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125 / 126 / 127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Erreur Docker / non exécutable / introuvable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Mauvais CMD ou ENTRYPOINT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+ 9 : SIGKILL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OOM (mémoire) ou docker kill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+ 11 : segfault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Mauvaise architecture ou bibliothèque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+ 15 : SIGTERM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Arrêt propre demandé par docker stop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vous de jouer : labos du module 02</a:t>
            </a:r>
            <a:endParaRPr lang="en-US" sz="3000" dirty="0"/>
          </a:p>
        </p:txBody>
      </p:sp>
      <p:sp>
        <p:nvSpPr>
          <p:cNvPr id="4" name="Carte Mon premier site"/>
          <p:cNvSpPr/>
          <p:nvPr/>
        </p:nvSpPr>
        <p:spPr>
          <a:xfrm>
            <a:off x="4572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Glob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Globe" descr="Icône Fa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 premier site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Servir un index.html avec nginx via un bind mount, sans construire d'image.</a:t>
            </a:r>
            <a:endParaRPr lang="en-US" sz="1400" dirty="0"/>
          </a:p>
        </p:txBody>
      </p:sp>
      <p:sp>
        <p:nvSpPr>
          <p:cNvPr id="9" name="Carte Base jetable"/>
          <p:cNvSpPr/>
          <p:nvPr/>
        </p:nvSpPr>
        <p:spPr>
          <a:xfrm>
            <a:off x="32766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Database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ône FaDatabase" descr="Icône 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 jetable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PostgreSQL, créer une table, supprimer le conteneur : que reste-t-il ?</a:t>
            </a:r>
            <a:endParaRPr lang="en-US" sz="1400" dirty="0"/>
          </a:p>
        </p:txBody>
      </p:sp>
      <p:sp>
        <p:nvSpPr>
          <p:cNvPr id="14" name="Carte Chasse aux codes"/>
          <p:cNvSpPr/>
          <p:nvPr/>
        </p:nvSpPr>
        <p:spPr>
          <a:xfrm>
            <a:off x="60960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Search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ône FaSearch" descr="Icône 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Chasse aux codes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Prédire puis vérifier le code de sortie de 5 commandes.</a:t>
            </a:r>
            <a:endParaRPr lang="en-US" sz="1400" dirty="0"/>
          </a:p>
        </p:txBody>
      </p:sp>
      <p:sp>
        <p:nvSpPr>
          <p:cNvPr id="19" name="Encadré Labo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astille encadré FaFlask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Flask" descr="Icône 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modules/02-installation-cli/lab.md. La base perdue annonce le module 07 (volumes).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Images et registres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Couches, tags, digests et distribution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Une image = des couches immuables</a:t>
            </a:r>
            <a:endParaRPr lang="en-US" sz="3000" dirty="0"/>
          </a:p>
        </p:txBody>
      </p:sp>
      <p:sp>
        <p:nvSpPr>
          <p:cNvPr id="4" name="Bloc Couche conteneur (le"/>
          <p:cNvSpPr/>
          <p:nvPr/>
        </p:nvSpPr>
        <p:spPr>
          <a:xfrm>
            <a:off x="457200" y="1234440"/>
            <a:ext cx="475488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Couche conteneur (lecture/écriture)</a:t>
            </a:r>
            <a:endParaRPr lang="en-US" sz="1300" dirty="0"/>
          </a:p>
        </p:txBody>
      </p:sp>
      <p:sp>
        <p:nvSpPr>
          <p:cNvPr id="6" name="Bloc COPY app/ /app"/>
          <p:cNvSpPr/>
          <p:nvPr/>
        </p:nvSpPr>
        <p:spPr>
          <a:xfrm>
            <a:off x="457200" y="1856232"/>
            <a:ext cx="47548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856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COPY app/ /app</a:t>
            </a:r>
            <a:endParaRPr lang="en-US" sz="1300" dirty="0"/>
          </a:p>
        </p:txBody>
      </p:sp>
      <p:sp>
        <p:nvSpPr>
          <p:cNvPr id="8" name="Bloc RUN pip install -r r"/>
          <p:cNvSpPr/>
          <p:nvPr/>
        </p:nvSpPr>
        <p:spPr>
          <a:xfrm>
            <a:off x="457200" y="2478024"/>
            <a:ext cx="47548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24780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 pip install -r requirements.txt</a:t>
            </a:r>
            <a:endParaRPr lang="en-US" sz="1300" dirty="0"/>
          </a:p>
        </p:txBody>
      </p:sp>
      <p:sp>
        <p:nvSpPr>
          <p:cNvPr id="10" name="Bloc RUN apt-get install "/>
          <p:cNvSpPr/>
          <p:nvPr/>
        </p:nvSpPr>
        <p:spPr>
          <a:xfrm>
            <a:off x="457200" y="3099816"/>
            <a:ext cx="47548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099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 apt-get install …</a:t>
            </a:r>
            <a:endParaRPr lang="en-US" sz="1300" dirty="0"/>
          </a:p>
        </p:txBody>
      </p:sp>
      <p:sp>
        <p:nvSpPr>
          <p:cNvPr id="12" name="Bloc Image de base : debi"/>
          <p:cNvSpPr/>
          <p:nvPr/>
        </p:nvSpPr>
        <p:spPr>
          <a:xfrm>
            <a:off x="457200" y="3721608"/>
            <a:ext cx="475488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3721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Image de base : debian-slim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lecture seule, partagées entre images</a:t>
            </a:r>
            <a:endParaRPr lang="en-US" sz="1200" dirty="0"/>
          </a:p>
        </p:txBody>
      </p:sp>
      <p:sp>
        <p:nvSpPr>
          <p:cNvPr id="15" name="Liste à puces"/>
          <p:cNvSpPr txBox="1"/>
          <p:nvPr/>
        </p:nvSpPr>
        <p:spPr>
          <a:xfrm>
            <a:off x="5486400" y="1280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Hash sha256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couche est identifiée par son contenu.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Partage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deux images avec la même base ne la stockent qu'une fois.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Copy-on-write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modifier un fichier d'une couche basse le copie d'abord dans la couche inscriptible.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Nommer une image : tag ou digest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225296"/>
          </a:xfrm>
          <a:prstGeom prst="roundRect">
            <a:avLst>
              <a:gd name="adj" fmla="val 4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nommage"/>
          <p:cNvSpPr txBox="1"/>
          <p:nvPr/>
        </p:nvSpPr>
        <p:spPr>
          <a:xfrm>
            <a:off x="621792" y="1316736"/>
            <a:ext cx="7900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[registre/][espace/]depot[:tag][@digest]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docker.io/library/nginx:1.27-alpine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ghcr.io/mon-org/mon-app:v1.2.0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registry.example.com:5000/equipe/api@sha256:ab12…</a:t>
            </a:r>
            <a:endParaRPr lang="en-US" sz="1200" dirty="0"/>
          </a:p>
        </p:txBody>
      </p:sp>
      <p:graphicFrame>
        <p:nvGraphicFramePr>
          <p:cNvPr id="2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Pratique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python  ou  python:latest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❌ imprévisible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python:3.12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⚠️ patchs mineurs mouvants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python:3.12.7-slim-bookworm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✅ précis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python@sha256:…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✅✅ immuable, reproductibilité maximale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Choisir son image de base</a:t>
            </a:r>
            <a:endParaRPr lang="en-US" sz="3000" dirty="0"/>
          </a:p>
        </p:txBody>
      </p:sp>
      <p:graphicFrame>
        <p:nvGraphicFramePr>
          <p:cNvPr id="2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Taille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À savoir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debian / ubuntu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80-120 Mo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Complet, glibc, apt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-slim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30-80 Mo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Bon compromis, compatible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-alpine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5-50 Mo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musl + apk : attention aux incompatibilités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distroless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2-20 Mo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 de shell : surface d'attaque minimale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scratch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Binaire statique (Go, Rust)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Encadré Astuc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stille encadré FaLightbulb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4954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93192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numpy ou pandas ? Préférez -slim : sur Alpine, pas de wheels binaires, donc compilation et builds longs.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commandes d'images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956816"/>
          </a:xfrm>
          <a:prstGeom prst="roundRect">
            <a:avLst>
              <a:gd name="adj" fmla="val 28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images"/>
          <p:cNvSpPr txBox="1"/>
          <p:nvPr/>
        </p:nvSpPr>
        <p:spPr>
          <a:xfrm>
            <a:off x="621792" y="1316736"/>
            <a:ext cx="79004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pull nginx:1.27-alpine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télécharger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images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# lister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image history nginx:1.27-alpine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couches et commandes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image inspect nginx:1.27-alpine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métadonnées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tag nginx:1.27-alpine monnginx:v1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alias, même image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rmi monnginx:v1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supprimer un tag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image prune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# supprimer les images dangling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save -o nginx.tar nginx:alpine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exporter (hors-ligne)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load -i nginx.tar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importer</a:t>
            </a:r>
            <a:endParaRPr lang="en-US" sz="1200" dirty="0"/>
          </a:p>
        </p:txBody>
      </p:sp>
      <p:sp>
        <p:nvSpPr>
          <p:cNvPr id="6" name="Encadré À reteni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astille encadré FaCheckCircle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40987"/>
            <a:ext cx="204826" cy="204826"/>
          </a:xfrm>
          <a:prstGeom prst="rect">
            <a:avLst/>
          </a:prstGeom>
        </p:spPr>
      </p:pic>
      <p:sp>
        <p:nvSpPr>
          <p:cNvPr id="9" name="Texte encadré"/>
          <p:cNvSpPr txBox="1"/>
          <p:nvPr/>
        </p:nvSpPr>
        <p:spPr>
          <a:xfrm>
            <a:off x="1097280" y="406908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dangling = image sans tag (&lt;none&gt;), souvent un résidu de build.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Registres et publication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120640" cy="1819656"/>
          </a:xfrm>
          <a:prstGeom prst="roundRect">
            <a:avLst>
              <a:gd name="adj" fmla="val 30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registre"/>
          <p:cNvSpPr txBox="1"/>
          <p:nvPr/>
        </p:nvSpPr>
        <p:spPr>
          <a:xfrm>
            <a:off x="621792" y="1316736"/>
            <a:ext cx="479145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login ghcr.io -u USER --password-stdin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monapp:1.0 ghcr.io/org/monapp:1.0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ghcr.io/org/monapp:1.0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Registre privé local en 3 lignes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5000:5000 --name registry registry:2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alpine localhost:5000/alpine:demo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localhost:5000/alpine:demo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http://localhost:5000/v2/_catalog</a:t>
            </a:r>
            <a:endParaRPr lang="en-US" sz="1100" dirty="0"/>
          </a:p>
        </p:txBody>
      </p:sp>
      <p:graphicFrame>
        <p:nvGraphicFramePr>
          <p:cNvPr id="27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88720"/>
          <a:ext cx="2926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Registre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Docker Hub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Défaut, images officielles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GHCR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Avec GitHub Actions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ECR / GAR / ACR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Clouds privés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Harbor, GitLab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Auto-hébergés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Encadré Attention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astille encadré FaExclamationTriangle"/>
          <p:cNvSpPr/>
          <p:nvPr/>
        </p:nvSpPr>
        <p:spPr>
          <a:xfrm>
            <a:off x="594360" y="41833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Icône FaExclamationTriangle" descr="Icône 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6384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406908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identifiants vont dans ~/.docker/config.json : utilisez un credential helper et des tokens limités.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vous de jouer : labos du module 03</a:t>
            </a:r>
            <a:endParaRPr lang="en-US" sz="3000" dirty="0"/>
          </a:p>
        </p:txBody>
      </p:sp>
      <p:sp>
        <p:nvSpPr>
          <p:cNvPr id="4" name="Carte Comparer les bases"/>
          <p:cNvSpPr/>
          <p:nvPr/>
        </p:nvSpPr>
        <p:spPr>
          <a:xfrm>
            <a:off x="4572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BalanceScal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alanceScale" descr="Icône Fa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Comparer les bases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python:3.12, -slim et -alpine : taille, couches, libc.</a:t>
            </a:r>
            <a:endParaRPr lang="en-US" sz="1400" dirty="0"/>
          </a:p>
        </p:txBody>
      </p:sp>
      <p:sp>
        <p:nvSpPr>
          <p:cNvPr id="9" name="Carte Publier"/>
          <p:cNvSpPr/>
          <p:nvPr/>
        </p:nvSpPr>
        <p:spPr>
          <a:xfrm>
            <a:off x="32766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Upload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Upload" descr="Icône FaUp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Publier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Pousser une image sur Docker Hub, la supprimer en local, la retirer.</a:t>
            </a:r>
            <a:endParaRPr lang="en-US" sz="1400" dirty="0"/>
          </a:p>
        </p:txBody>
      </p:sp>
      <p:sp>
        <p:nvSpPr>
          <p:cNvPr id="14" name="Carte Registre privé"/>
          <p:cNvSpPr/>
          <p:nvPr/>
        </p:nvSpPr>
        <p:spPr>
          <a:xfrm>
            <a:off x="60960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Server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Server" descr="Icône 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Registre privé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registry:2 avec volume, API HTTP, redémarrage.</a:t>
            </a:r>
            <a:endParaRPr lang="en-US" sz="1400" dirty="0"/>
          </a:p>
        </p:txBody>
      </p:sp>
      <p:sp>
        <p:nvSpPr>
          <p:cNvPr id="19" name="Encadré Labo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astille encadré FaFlask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Flask" descr="Icône 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modules/03-images-registres/lab.md avec corrigés.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Les conteneurs en profondeur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Cycle de vie, signaux, ressources, redémarrage, logs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États et cycle de vie</a:t>
            </a:r>
            <a:endParaRPr lang="en-US" sz="3000" dirty="0"/>
          </a:p>
        </p:txBody>
      </p:sp>
      <p:sp>
        <p:nvSpPr>
          <p:cNvPr id="4" name="Étape created"/>
          <p:cNvSpPr/>
          <p:nvPr/>
        </p:nvSpPr>
        <p:spPr>
          <a:xfrm>
            <a:off x="457200" y="1371600"/>
            <a:ext cx="1769364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677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created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176272"/>
            <a:ext cx="1860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create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2281428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running"/>
          <p:cNvSpPr/>
          <p:nvPr/>
        </p:nvSpPr>
        <p:spPr>
          <a:xfrm>
            <a:off x="2610612" y="1371600"/>
            <a:ext cx="1769364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656332" y="1371600"/>
            <a:ext cx="1677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running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564892" y="2176272"/>
            <a:ext cx="1860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start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4434840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paused"/>
          <p:cNvSpPr/>
          <p:nvPr/>
        </p:nvSpPr>
        <p:spPr>
          <a:xfrm>
            <a:off x="4764024" y="1371600"/>
            <a:ext cx="1769364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809744" y="1371600"/>
            <a:ext cx="1677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paused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18304" y="2176272"/>
            <a:ext cx="1860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pause / unpause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6588252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exited"/>
          <p:cNvSpPr/>
          <p:nvPr/>
        </p:nvSpPr>
        <p:spPr>
          <a:xfrm>
            <a:off x="6917436" y="1371600"/>
            <a:ext cx="1769364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63156" y="1371600"/>
            <a:ext cx="1677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exited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71716" y="2176272"/>
            <a:ext cx="1860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stop · rm</a:t>
            </a:r>
            <a:endParaRPr lang="en-US" sz="1200" dirty="0"/>
          </a:p>
        </p:txBody>
      </p:sp>
      <p:graphicFrame>
        <p:nvGraphicFramePr>
          <p:cNvPr id="3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Effet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docker stop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SIGTERM, attend 10 s, puis SIGKILL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docker kill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SIGKILL immédiat (ou le signal choisi)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docker restart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stop puis 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docker rm -f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tue puis supprime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piège du PID 1 et des signaux</a:t>
            </a:r>
            <a:endParaRPr lang="en-US" sz="3000" dirty="0"/>
          </a:p>
        </p:txBody>
      </p:sp>
      <p:sp>
        <p:nvSpPr>
          <p:cNvPr id="4" name="Chiffre clé"/>
          <p:cNvSpPr txBox="1"/>
          <p:nvPr/>
        </p:nvSpPr>
        <p:spPr>
          <a:xfrm>
            <a:off x="457200" y="1188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10,1 s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stop sans --init, code 137</a:t>
            </a:r>
            <a:endParaRPr lang="en-US" sz="1400" dirty="0"/>
          </a:p>
        </p:txBody>
      </p:sp>
      <p:sp>
        <p:nvSpPr>
          <p:cNvPr id="6" name="Chiffre clé"/>
          <p:cNvSpPr txBox="1"/>
          <p:nvPr/>
        </p:nvSpPr>
        <p:spPr>
          <a:xfrm>
            <a:off x="2743200" y="1188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0,18 s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stop avec --init, code 143</a:t>
            </a:r>
            <a:endParaRPr lang="en-US" sz="1400" dirty="0"/>
          </a:p>
        </p:txBody>
      </p:sp>
      <p:sp>
        <p:nvSpPr>
          <p:cNvPr id="8" name="Fond du code"/>
          <p:cNvSpPr/>
          <p:nvPr/>
        </p:nvSpPr>
        <p:spPr>
          <a:xfrm>
            <a:off x="5120640" y="1188720"/>
            <a:ext cx="356616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ode pid1"/>
          <p:cNvSpPr txBox="1"/>
          <p:nvPr/>
        </p:nvSpPr>
        <p:spPr>
          <a:xfrm>
            <a:off x="5285232" y="1316736"/>
            <a:ext cx="323697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forme shell : sh est PID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node server.js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forme exec : node est PID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"server.js"]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: tini transmet les signaux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--init -d monapp</a:t>
            </a:r>
            <a:endParaRPr lang="en-US" sz="1100" dirty="0"/>
          </a:p>
        </p:txBody>
      </p:sp>
      <p:sp>
        <p:nvSpPr>
          <p:cNvPr id="10" name="Liste à puces"/>
          <p:cNvSpPr txBox="1"/>
          <p:nvPr/>
        </p:nvSpPr>
        <p:spPr>
          <a:xfrm>
            <a:off x="457200" y="30175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noyau n'applique pas l'action par défaut des signaux au PID 1 d'un namespace.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Sans handler SIGTERM, le processus ignore docker stop et se fait tuer après 10 s.</a:t>
            </a:r>
            <a:endParaRPr lang="en-US" sz="1400" dirty="0"/>
          </a:p>
        </p:txBody>
      </p:sp>
      <p:sp>
        <p:nvSpPr>
          <p:cNvPr id="11" name="Encadré À retenir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stille encadré FaCheckCircle"/>
          <p:cNvSpPr/>
          <p:nvPr/>
        </p:nvSpPr>
        <p:spPr>
          <a:xfrm>
            <a:off x="594360" y="42291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309567"/>
            <a:ext cx="204826" cy="204826"/>
          </a:xfrm>
          <a:prstGeom prst="rect">
            <a:avLst/>
          </a:prstGeom>
        </p:spPr>
      </p:pic>
      <p:sp>
        <p:nvSpPr>
          <p:cNvPr id="14" name="Texte encadré"/>
          <p:cNvSpPr txBox="1"/>
          <p:nvPr/>
        </p:nvSpPr>
        <p:spPr>
          <a:xfrm>
            <a:off x="1097280" y="416052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forme exec + gestion de SIGTERM, ou --init.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Ports et variables d'environnement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120640" cy="1484376"/>
          </a:xfrm>
          <a:prstGeom prst="roundRect">
            <a:avLst>
              <a:gd name="adj" fmla="val 3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ports"/>
          <p:cNvSpPr txBox="1"/>
          <p:nvPr/>
        </p:nvSpPr>
        <p:spPr>
          <a:xfrm>
            <a:off x="621792" y="1316736"/>
            <a:ext cx="4791456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hôte:conteneur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127.0.0.1:8080:80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local seulement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# port hôte aléatoire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port web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correspondances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DB_HOST=db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--env-file .env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fichier KEY=VALUE</a:t>
            </a:r>
            <a:endParaRPr lang="en-US" sz="1100" dirty="0"/>
          </a:p>
        </p:txBody>
      </p:sp>
      <p:sp>
        <p:nvSpPr>
          <p:cNvPr id="6" name="Carte Pare-feu"/>
          <p:cNvSpPr/>
          <p:nvPr/>
        </p:nvSpPr>
        <p:spPr>
          <a:xfrm>
            <a:off x="5760720" y="1188720"/>
            <a:ext cx="29260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ExclamationTriangle"/>
          <p:cNvSpPr/>
          <p:nvPr/>
        </p:nvSpPr>
        <p:spPr>
          <a:xfrm>
            <a:off x="594360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cône FaExclamationTriangle" descr="Icône 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453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10528" y="13258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Pare-feu</a:t>
            </a:r>
            <a:endParaRPr lang="en-US" sz="1600" dirty="0"/>
          </a:p>
        </p:txBody>
      </p:sp>
      <p:sp>
        <p:nvSpPr>
          <p:cNvPr id="10" name="Texte carte"/>
          <p:cNvSpPr txBox="1"/>
          <p:nvPr/>
        </p:nvSpPr>
        <p:spPr>
          <a:xfrm>
            <a:off x="5943600" y="1938528"/>
            <a:ext cx="25603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Docker contourne souvent ufw : -p ouvre au monde.</a:t>
            </a:r>
            <a:endParaRPr lang="en-US" sz="1300" dirty="0"/>
          </a:p>
        </p:txBody>
      </p:sp>
      <p:sp>
        <p:nvSpPr>
          <p:cNvPr id="11" name="Encadré Attention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astille encadré FaExclamationTriangle"/>
          <p:cNvSpPr/>
          <p:nvPr/>
        </p:nvSpPr>
        <p:spPr>
          <a:xfrm>
            <a:off x="594360" y="3886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Icône FaExclamationTriangle" descr="Icône 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" y="3966667"/>
            <a:ext cx="204826" cy="204826"/>
          </a:xfrm>
          <a:prstGeom prst="rect">
            <a:avLst/>
          </a:prstGeom>
        </p:spPr>
      </p:pic>
      <p:sp>
        <p:nvSpPr>
          <p:cNvPr id="14" name="Texte encadré"/>
          <p:cNvSpPr txBox="1"/>
          <p:nvPr/>
        </p:nvSpPr>
        <p:spPr>
          <a:xfrm>
            <a:off x="1097280" y="374904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jamais de secret dans l'image ni dans ENV : visible avec docker inspect et docker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Limiter les ressources (cgroups)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93776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limites"/>
          <p:cNvSpPr txBox="1"/>
          <p:nvPr/>
        </p:nvSpPr>
        <p:spPr>
          <a:xfrm>
            <a:off x="621792" y="1316736"/>
            <a:ext cx="460857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api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-m 512m --memory-swap 512m \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RAM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--cpus 1.5 \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1,5 CPU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--pids-limit 100 \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anti fork-bomb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 --no-stream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update --memory 1g --cpus 2 api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à chaud</a:t>
            </a:r>
            <a:endParaRPr lang="en-US" sz="1100" dirty="0"/>
          </a:p>
        </p:txBody>
      </p:sp>
      <p:sp>
        <p:nvSpPr>
          <p:cNvPr id="6" name="Chiffre clé"/>
          <p:cNvSpPr txBox="1"/>
          <p:nvPr/>
        </p:nvSpPr>
        <p:spPr>
          <a:xfrm>
            <a:off x="5669280" y="1188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137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de sortie d'un conteneur tué par l'OOM killer (mesuré)</a:t>
            </a:r>
            <a:endParaRPr lang="en-US" sz="1400" dirty="0"/>
          </a:p>
        </p:txBody>
      </p:sp>
      <p:sp>
        <p:nvSpPr>
          <p:cNvPr id="8" name="Encadré À retenir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tille encadré FaCheckCircle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03827"/>
            <a:ext cx="204826" cy="204826"/>
          </a:xfrm>
          <a:prstGeom prst="rect">
            <a:avLst/>
          </a:prstGeom>
        </p:spPr>
      </p:pic>
      <p:sp>
        <p:nvSpPr>
          <p:cNvPr id="11" name="Texte encadré"/>
          <p:cNvSpPr txBox="1"/>
          <p:nvPr/>
        </p:nvSpPr>
        <p:spPr>
          <a:xfrm>
            <a:off x="1097280" y="384048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toujours définir des limites en production. Vérifier : docker inspect -f '{{.State.OOMKilled}}'.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Redémarrage et logs</a:t>
            </a:r>
            <a:endParaRPr lang="en-US" sz="3000" dirty="0"/>
          </a:p>
        </p:txBody>
      </p:sp>
      <p:graphicFrame>
        <p:nvGraphicFramePr>
          <p:cNvPr id="3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Politique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Comportement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jamais (défaut)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on-failure[:N]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 code ≠ 0, N tentatives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always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toujours, même après reboot du démon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unless-stopped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comme always, sauf arrêt manuel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Fond du code"/>
          <p:cNvSpPr/>
          <p:nvPr/>
        </p:nvSpPr>
        <p:spPr>
          <a:xfrm>
            <a:off x="4663440" y="1188720"/>
            <a:ext cx="402336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 logs"/>
          <p:cNvSpPr txBox="1"/>
          <p:nvPr/>
        </p:nvSpPr>
        <p:spPr>
          <a:xfrm>
            <a:off x="4828032" y="1316736"/>
            <a:ext cx="369417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Rotation des logs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--log-opt max-size=10m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--log-opt max-file=3 monapp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daemon.json (global)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"log-driver": "local",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"log-opts": { "max-size": "10m",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"max-file": "3" } }</a:t>
            </a:r>
            <a:endParaRPr lang="en-US" sz="1100" dirty="0"/>
          </a:p>
        </p:txBody>
      </p:sp>
      <p:sp>
        <p:nvSpPr>
          <p:cNvPr id="7" name="Encadré Astuce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stille encadré FaLightbulb"/>
          <p:cNvSpPr/>
          <p:nvPr/>
        </p:nvSpPr>
        <p:spPr>
          <a:xfrm>
            <a:off x="594360" y="40005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08096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384048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logguez sur stdout/stderr : Docker les collecte, jamais dans des fichiers à l'intérieur du conteneur.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Dépanner un conteneur qui s'arrête</a:t>
            </a:r>
            <a:endParaRPr lang="en-US" sz="3000" dirty="0"/>
          </a:p>
        </p:txBody>
      </p:sp>
      <p:sp>
        <p:nvSpPr>
          <p:cNvPr id="4" name="Étape docker ps -a"/>
          <p:cNvSpPr/>
          <p:nvPr/>
        </p:nvSpPr>
        <p:spPr>
          <a:xfrm>
            <a:off x="457200" y="1371600"/>
            <a:ext cx="133868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247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ps -a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17627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Quel code de sortie ?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850746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docker logs"/>
          <p:cNvSpPr/>
          <p:nvPr/>
        </p:nvSpPr>
        <p:spPr>
          <a:xfrm>
            <a:off x="2179930" y="1371600"/>
            <a:ext cx="1338682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225650" y="1371600"/>
            <a:ext cx="1247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logs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34210" y="217627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Message d'erreur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3573475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docker inspect"/>
          <p:cNvSpPr/>
          <p:nvPr/>
        </p:nvSpPr>
        <p:spPr>
          <a:xfrm>
            <a:off x="3902659" y="1371600"/>
            <a:ext cx="1338682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948379" y="1371600"/>
            <a:ext cx="1247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inspect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856939" y="217627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.State.OOMKilled, ExitCode, Error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5296205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run --entrypoint sh"/>
          <p:cNvSpPr/>
          <p:nvPr/>
        </p:nvSpPr>
        <p:spPr>
          <a:xfrm>
            <a:off x="5625389" y="1371600"/>
            <a:ext cx="1338682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71109" y="1371600"/>
            <a:ext cx="1247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run --entrypoint sh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79669" y="217627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Reproduire à la main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7018934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Corriger"/>
          <p:cNvSpPr/>
          <p:nvPr/>
        </p:nvSpPr>
        <p:spPr>
          <a:xfrm>
            <a:off x="7348118" y="1371600"/>
            <a:ext cx="1338682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93838" y="1371600"/>
            <a:ext cx="1247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Corriger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02398" y="217627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Config, limites, port</a:t>
            </a:r>
            <a:endParaRPr lang="en-US" sz="1200" dirty="0"/>
          </a:p>
        </p:txBody>
      </p:sp>
      <p:sp>
        <p:nvSpPr>
          <p:cNvPr id="23" name="Fond du code"/>
          <p:cNvSpPr/>
          <p:nvPr/>
        </p:nvSpPr>
        <p:spPr>
          <a:xfrm>
            <a:off x="457200" y="3200400"/>
            <a:ext cx="8229600" cy="646176"/>
          </a:xfrm>
          <a:prstGeom prst="roundRect">
            <a:avLst>
              <a:gd name="adj" fmla="val 84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Code diagnostic"/>
          <p:cNvSpPr txBox="1"/>
          <p:nvPr/>
        </p:nvSpPr>
        <p:spPr>
          <a:xfrm>
            <a:off x="621792" y="3328416"/>
            <a:ext cx="79004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-f '{{.State.OOMKilled}} {{.State.ExitCode}} {{.State.Error}}' nom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--entrypoint sh image</a:t>
            </a:r>
            <a:endParaRPr lang="en-US" sz="1100" dirty="0"/>
          </a:p>
        </p:txBody>
      </p:sp>
      <p:sp>
        <p:nvSpPr>
          <p:cNvPr id="25" name="Encadré Labo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Pastille encadré FaFlask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86707"/>
            <a:ext cx="204826" cy="204826"/>
          </a:xfrm>
          <a:prstGeom prst="rect">
            <a:avLst/>
          </a:prstGeom>
        </p:spPr>
      </p:pic>
      <p:sp>
        <p:nvSpPr>
          <p:cNvPr id="28" name="Texte encadré"/>
          <p:cNvSpPr txBox="1"/>
          <p:nvPr/>
        </p:nvSpPr>
        <p:spPr>
          <a:xfrm>
            <a:off x="1097280" y="4114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modules/04-conteneurs/lab.md : signaux, ressources, résilience, logs, diagnostic.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Écrire un Dockerfile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Instructions, cache et bonnes pratiques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Dockerfile, ligne par ligne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2825496"/>
          </a:xfrm>
          <a:prstGeom prst="roundRect">
            <a:avLst>
              <a:gd name="adj" fmla="val 19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Dockerfile Flask"/>
          <p:cNvSpPr txBox="1"/>
          <p:nvPr/>
        </p:nvSpPr>
        <p:spPr>
          <a:xfrm>
            <a:off x="621792" y="1316736"/>
            <a:ext cx="790041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image de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PYTHONUNBUFFERED=1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logs sans tampon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# dossier de travail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# 1) dépendances d'abord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app.py .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# 2) puis le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--system --uid 10001 appuser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# 3) jamais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 CMD python -c "import urllib.request as u;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u.urlopen('http://localhost:5000/health')"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["gunicorn", "--bind", "0.0.0.0:5000", "app:app"]</a:t>
            </a:r>
            <a:endParaRPr lang="en-US" sz="1100" dirty="0"/>
          </a:p>
        </p:txBody>
      </p:sp>
      <p:sp>
        <p:nvSpPr>
          <p:cNvPr id="6" name="Encadré À reteni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astille encadré FaCheckCircle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86707"/>
            <a:ext cx="204826" cy="204826"/>
          </a:xfrm>
          <a:prstGeom prst="rect">
            <a:avLst/>
          </a:prstGeom>
        </p:spPr>
      </p:pic>
      <p:sp>
        <p:nvSpPr>
          <p:cNvPr id="9" name="Texte encadré"/>
          <p:cNvSpPr txBox="1"/>
          <p:nvPr/>
        </p:nvSpPr>
        <p:spPr>
          <a:xfrm>
            <a:off x="1097280" y="4114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: docker build -t flask:propre .  puis  docker run -d -p 5000:5000 flask:propre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instructions essentielles</a:t>
            </a:r>
            <a:endParaRPr lang="en-US" sz="3000" dirty="0"/>
          </a:p>
        </p:txBody>
      </p:sp>
      <p:graphicFrame>
        <p:nvGraphicFramePr>
          <p:cNvPr id="38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Instruction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retenir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Image de 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Toujours un tag précis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Exécute au 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Une couche par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COPY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Copie du contexte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Préférer à ADD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ENV / ARG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Variable run / 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 de secrets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Utilisateur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Éviter root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CMD / ENTRYPOINT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Commande de démarrage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Forme exec []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HEALTHCHECK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Test de santé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Rapide et fiable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ENTRYPOINT et CMD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754880" cy="1484376"/>
          </a:xfrm>
          <a:prstGeom prst="roundRect">
            <a:avLst>
              <a:gd name="adj" fmla="val 3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entrypoint"/>
          <p:cNvSpPr txBox="1"/>
          <p:nvPr/>
        </p:nvSpPr>
        <p:spPr>
          <a:xfrm>
            <a:off x="621792" y="1316736"/>
            <a:ext cx="4425696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alpine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["echo", "Bonjour"]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["monde"]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t:ep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Bonjour monde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t:ep Awa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Bonjour Awa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--entrypoint sh t:ep -c 'echo override'</a:t>
            </a:r>
            <a:endParaRPr lang="en-US" sz="1100" dirty="0"/>
          </a:p>
        </p:txBody>
      </p:sp>
      <p:graphicFrame>
        <p:nvGraphicFramePr>
          <p:cNvPr id="3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ENTRYPOINT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CMD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docker run img x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["a"]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x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["e"]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 x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["e"]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["a"]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 x 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Encadré Astuc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stille encadré FaLightbulb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0382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384048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patron courant : ENTRYPOINT = script d'initialisation qui termine par exec "$@" ; CMD = le serveur.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cache : l'ordre fait tout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023360" cy="981456"/>
          </a:xfrm>
          <a:prstGeom prst="roundRect">
            <a:avLst>
              <a:gd name="adj" fmla="val 55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mauvais ordre"/>
          <p:cNvSpPr txBox="1"/>
          <p:nvPr/>
        </p:nvSpPr>
        <p:spPr>
          <a:xfrm>
            <a:off x="621792" y="1316736"/>
            <a:ext cx="369417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chaque modification de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réinstalle les dépendances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100" dirty="0"/>
          </a:p>
        </p:txBody>
      </p:sp>
      <p:sp>
        <p:nvSpPr>
          <p:cNvPr id="6" name="Fond du code"/>
          <p:cNvSpPr/>
          <p:nvPr/>
        </p:nvSpPr>
        <p:spPr>
          <a:xfrm>
            <a:off x="4663440" y="1188720"/>
            <a:ext cx="4023360" cy="1149096"/>
          </a:xfrm>
          <a:prstGeom prst="roundRect">
            <a:avLst>
              <a:gd name="adj" fmla="val 477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ode bon ordre"/>
          <p:cNvSpPr txBox="1"/>
          <p:nvPr/>
        </p:nvSpPr>
        <p:spPr>
          <a:xfrm>
            <a:off x="4828032" y="1316736"/>
            <a:ext cx="3694176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pip install rejoué seulement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si requirements.txt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Mauvais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69748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Bon</a:t>
            </a:r>
            <a:endParaRPr lang="en-US" sz="1200" dirty="0"/>
          </a:p>
        </p:txBody>
      </p:sp>
      <p:sp>
        <p:nvSpPr>
          <p:cNvPr id="12" name="Liste à puces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Règle d'or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qui change le moins en haut, ce qui change le plus en bas.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Invalidation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dès qu'une couche change, toutes les suivantes sont reconstruites.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Nettoyer dans la même couche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apt-get install … &amp;&amp; rm -rf /var/lib/apt/lists/* (un rm ultérieur ne réduit pas l'image).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8 bonnes pratiques d'or</a:t>
            </a:r>
            <a:endParaRPr lang="en-US" sz="3000" dirty="0"/>
          </a:p>
        </p:txBody>
      </p:sp>
      <p:sp>
        <p:nvSpPr>
          <p:cNvPr id="4" name="Carte Base précise"/>
          <p:cNvSpPr/>
          <p:nvPr/>
        </p:nvSpPr>
        <p:spPr>
          <a:xfrm>
            <a:off x="457200" y="118872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Tag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Tag" descr="Icône FaT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 précise</a:t>
            </a:r>
            <a:endParaRPr lang="en-US" sz="14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Image minimale, versionnée, officielle.</a:t>
            </a:r>
            <a:endParaRPr lang="en-US" sz="1300" dirty="0"/>
          </a:p>
        </p:txBody>
      </p:sp>
      <p:sp>
        <p:nvSpPr>
          <p:cNvPr id="9" name="Carte Ordre cache"/>
          <p:cNvSpPr/>
          <p:nvPr/>
        </p:nvSpPr>
        <p:spPr>
          <a:xfrm>
            <a:off x="2548890" y="118872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LayerGroup"/>
          <p:cNvSpPr/>
          <p:nvPr/>
        </p:nvSpPr>
        <p:spPr>
          <a:xfrm>
            <a:off x="273177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ône FaLayerGroup" descr="Icône 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5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98698" y="132588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Ordre cache</a:t>
            </a:r>
            <a:endParaRPr lang="en-US" sz="1400" dirty="0"/>
          </a:p>
        </p:txBody>
      </p:sp>
      <p:sp>
        <p:nvSpPr>
          <p:cNvPr id="13" name="Texte carte"/>
          <p:cNvSpPr txBox="1"/>
          <p:nvPr/>
        </p:nvSpPr>
        <p:spPr>
          <a:xfrm>
            <a:off x="2731770" y="193852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Dépendances avant le code.</a:t>
            </a:r>
            <a:endParaRPr lang="en-US" sz="1300" dirty="0"/>
          </a:p>
        </p:txBody>
      </p:sp>
      <p:sp>
        <p:nvSpPr>
          <p:cNvPr id="14" name="Carte Non-root"/>
          <p:cNvSpPr/>
          <p:nvPr/>
        </p:nvSpPr>
        <p:spPr>
          <a:xfrm>
            <a:off x="4640580" y="118872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UserShield"/>
          <p:cNvSpPr/>
          <p:nvPr/>
        </p:nvSpPr>
        <p:spPr>
          <a:xfrm>
            <a:off x="482346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ône FaUserShield" descr="Icône 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04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0388" y="132588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Non-root</a:t>
            </a:r>
            <a:endParaRPr lang="en-US" sz="1400" dirty="0"/>
          </a:p>
        </p:txBody>
      </p:sp>
      <p:sp>
        <p:nvSpPr>
          <p:cNvPr id="18" name="Texte carte"/>
          <p:cNvSpPr txBox="1"/>
          <p:nvPr/>
        </p:nvSpPr>
        <p:spPr>
          <a:xfrm>
            <a:off x="4823460" y="193852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 numérique dédié.</a:t>
            </a:r>
            <a:endParaRPr lang="en-US" sz="1300" dirty="0"/>
          </a:p>
        </p:txBody>
      </p:sp>
      <p:sp>
        <p:nvSpPr>
          <p:cNvPr id="19" name="Carte Sans secret"/>
          <p:cNvSpPr/>
          <p:nvPr/>
        </p:nvSpPr>
        <p:spPr>
          <a:xfrm>
            <a:off x="6732270" y="118872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Pastille FaKey"/>
          <p:cNvSpPr/>
          <p:nvPr/>
        </p:nvSpPr>
        <p:spPr>
          <a:xfrm>
            <a:off x="691515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ône FaKey" descr="Icône Fa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734" y="145389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82078" y="132588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Sans secret</a:t>
            </a:r>
            <a:endParaRPr lang="en-US" sz="1400" dirty="0"/>
          </a:p>
        </p:txBody>
      </p:sp>
      <p:sp>
        <p:nvSpPr>
          <p:cNvPr id="23" name="Texte carte"/>
          <p:cNvSpPr txBox="1"/>
          <p:nvPr/>
        </p:nvSpPr>
        <p:spPr>
          <a:xfrm>
            <a:off x="6915150" y="193852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 ARG, ni ENV, ni COPY.</a:t>
            </a:r>
            <a:endParaRPr lang="en-US" sz="1300" dirty="0"/>
          </a:p>
        </p:txBody>
      </p:sp>
      <p:sp>
        <p:nvSpPr>
          <p:cNvPr id="24" name="Carte Contexte"/>
          <p:cNvSpPr/>
          <p:nvPr/>
        </p:nvSpPr>
        <p:spPr>
          <a:xfrm>
            <a:off x="457200" y="274320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Pastille FaFilter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ône FaFilter" descr="Icône FaFil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00837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07008" y="288036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Contexte</a:t>
            </a:r>
            <a:endParaRPr lang="en-US" sz="1400" dirty="0"/>
          </a:p>
        </p:txBody>
      </p:sp>
      <p:sp>
        <p:nvSpPr>
          <p:cNvPr id="28" name="Texte carte"/>
          <p:cNvSpPr txBox="1"/>
          <p:nvPr/>
        </p:nvSpPr>
        <p:spPr>
          <a:xfrm>
            <a:off x="640080" y="349300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.dockerignore : exclure .git, .env.</a:t>
            </a:r>
            <a:endParaRPr lang="en-US" sz="1300" dirty="0"/>
          </a:p>
        </p:txBody>
      </p:sp>
      <p:sp>
        <p:nvSpPr>
          <p:cNvPr id="29" name="Carte Forme exec"/>
          <p:cNvSpPr/>
          <p:nvPr/>
        </p:nvSpPr>
        <p:spPr>
          <a:xfrm>
            <a:off x="2548890" y="274320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Pastille FaTerminal"/>
          <p:cNvSpPr/>
          <p:nvPr/>
        </p:nvSpPr>
        <p:spPr>
          <a:xfrm>
            <a:off x="2731770" y="2907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Terminal" descr="Icône FaTermin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354" y="300837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298698" y="288036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Forme exec</a:t>
            </a:r>
            <a:endParaRPr lang="en-US" sz="1400" dirty="0"/>
          </a:p>
        </p:txBody>
      </p:sp>
      <p:sp>
        <p:nvSpPr>
          <p:cNvPr id="33" name="Texte carte"/>
          <p:cNvSpPr txBox="1"/>
          <p:nvPr/>
        </p:nvSpPr>
        <p:spPr>
          <a:xfrm>
            <a:off x="2731770" y="349300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CMD ["prog", "arg"].</a:t>
            </a:r>
            <a:endParaRPr lang="en-US" sz="1300" dirty="0"/>
          </a:p>
        </p:txBody>
      </p:sp>
      <p:sp>
        <p:nvSpPr>
          <p:cNvPr id="34" name="Carte Healthcheck"/>
          <p:cNvSpPr/>
          <p:nvPr/>
        </p:nvSpPr>
        <p:spPr>
          <a:xfrm>
            <a:off x="4640580" y="274320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Pastille FaHeartbeat"/>
          <p:cNvSpPr/>
          <p:nvPr/>
        </p:nvSpPr>
        <p:spPr>
          <a:xfrm>
            <a:off x="4823460" y="29077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6" name="Icône FaHeartbeat" descr="Icône FaHeartbea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44" y="3008376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390388" y="288036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Healthcheck</a:t>
            </a:r>
            <a:endParaRPr lang="en-US" sz="1400" dirty="0"/>
          </a:p>
        </p:txBody>
      </p:sp>
      <p:sp>
        <p:nvSpPr>
          <p:cNvPr id="38" name="Texte carte"/>
          <p:cNvSpPr txBox="1"/>
          <p:nvPr/>
        </p:nvSpPr>
        <p:spPr>
          <a:xfrm>
            <a:off x="4823460" y="349300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Sonde rapide, sans dépendance.</a:t>
            </a:r>
            <a:endParaRPr lang="en-US" sz="1300" dirty="0"/>
          </a:p>
        </p:txBody>
      </p:sp>
      <p:sp>
        <p:nvSpPr>
          <p:cNvPr id="39" name="Carte hadolint"/>
          <p:cNvSpPr/>
          <p:nvPr/>
        </p:nvSpPr>
        <p:spPr>
          <a:xfrm>
            <a:off x="6732270" y="2743200"/>
            <a:ext cx="195453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Pastille FaCheckCircle"/>
          <p:cNvSpPr/>
          <p:nvPr/>
        </p:nvSpPr>
        <p:spPr>
          <a:xfrm>
            <a:off x="6915150" y="29077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cône FaCheckCircle" descr="Icône FaCheckCirc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734" y="3008376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482078" y="2880360"/>
            <a:ext cx="10401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hadolint</a:t>
            </a:r>
            <a:endParaRPr lang="en-US" sz="1400" dirty="0"/>
          </a:p>
        </p:txBody>
      </p:sp>
      <p:sp>
        <p:nvSpPr>
          <p:cNvPr id="43" name="Texte carte"/>
          <p:cNvSpPr txBox="1"/>
          <p:nvPr/>
        </p:nvSpPr>
        <p:spPr>
          <a:xfrm>
            <a:off x="6915150" y="3493008"/>
            <a:ext cx="158877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Linter en CI.</a:t>
            </a:r>
            <a:endParaRPr lang="en-US" sz="1300" dirty="0"/>
          </a:p>
        </p:txBody>
      </p:sp>
      <p:sp>
        <p:nvSpPr>
          <p:cNvPr id="44" name="Encadré Labo"/>
          <p:cNvSpPr/>
          <p:nvPr/>
        </p:nvSpPr>
        <p:spPr>
          <a:xfrm>
            <a:off x="457200" y="4279392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Pastille encadré FaFlask"/>
          <p:cNvSpPr/>
          <p:nvPr/>
        </p:nvSpPr>
        <p:spPr>
          <a:xfrm>
            <a:off x="594360" y="43022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cône FaFlask" descr="Icône FaFlas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" y="4382719"/>
            <a:ext cx="204826" cy="204826"/>
          </a:xfrm>
          <a:prstGeom prst="rect">
            <a:avLst/>
          </a:prstGeom>
        </p:spPr>
      </p:pic>
      <p:sp>
        <p:nvSpPr>
          <p:cNvPr id="47" name="Texte encadré"/>
          <p:cNvSpPr txBox="1"/>
          <p:nvPr/>
        </p:nvSpPr>
        <p:spPr>
          <a:xfrm>
            <a:off x="1097280" y="427939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 5.2 : trouver les 8 défauts d'un Dockerfile volontairement mauvais.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Dockerfile avancé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Multi-stage, BuildKit, cache, multi-architecture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Multi-stage : build lourd, runtime léger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93776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multi-stage"/>
          <p:cNvSpPr txBox="1"/>
          <p:nvPr/>
        </p:nvSpPr>
        <p:spPr>
          <a:xfrm>
            <a:off x="621792" y="1316736"/>
            <a:ext cx="460857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golang:1.22-alpine AS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CGO_ENABLED=0 go build -o /out/app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gcr.io/distroless/static-debian12:nonroot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/out/app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["/app"]</a:t>
            </a:r>
            <a:endParaRPr lang="en-US" sz="1100" dirty="0"/>
          </a:p>
        </p:txBody>
      </p:sp>
      <p:sp>
        <p:nvSpPr>
          <p:cNvPr id="6" name="Chiffre clé"/>
          <p:cNvSpPr txBox="1"/>
          <p:nvPr/>
        </p:nvSpPr>
        <p:spPr>
          <a:xfrm>
            <a:off x="5669280" y="1143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~850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Mo, image mono-étape</a:t>
            </a:r>
            <a:endParaRPr lang="en-US" sz="1400" dirty="0"/>
          </a:p>
        </p:txBody>
      </p:sp>
      <p:sp>
        <p:nvSpPr>
          <p:cNvPr id="8" name="Chiffre clé"/>
          <p:cNvSpPr txBox="1"/>
          <p:nvPr/>
        </p:nvSpPr>
        <p:spPr>
          <a:xfrm>
            <a:off x="7223760" y="1143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~10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Mo, multi-stage</a:t>
            </a:r>
            <a:endParaRPr lang="en-US" sz="1400" dirty="0"/>
          </a:p>
        </p:txBody>
      </p:sp>
      <p:sp>
        <p:nvSpPr>
          <p:cNvPr id="10" name="Liste à puces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build --target build . : s'arrêter à une étape (debug, tests).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COPY --from=nginx:alpine … : copier depuis une image externe.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 de shell : déboguer avec docker debug ou nsenter.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BuildKit : mounts de cache et secrets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394960" cy="2154936"/>
          </a:xfrm>
          <a:prstGeom prst="roundRect">
            <a:avLst>
              <a:gd name="adj" fmla="val 25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buildkit"/>
          <p:cNvSpPr txBox="1"/>
          <p:nvPr/>
        </p:nvSpPr>
        <p:spPr>
          <a:xfrm>
            <a:off x="621792" y="1316736"/>
            <a:ext cx="5065776" cy="189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syntax=docker/dockerfile:1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Cache persistant entre builds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--mount=type=cache,target=/root/.cache/pip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: jamais écrit dans l'image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--mount=type=secret,id=npmrc,target=/root/.npmrc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npm 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--secret id=npmrc,src=$HOME/.npmrc .</a:t>
            </a:r>
            <a:endParaRPr lang="en-US" sz="1100" dirty="0"/>
          </a:p>
        </p:txBody>
      </p:sp>
      <p:sp>
        <p:nvSpPr>
          <p:cNvPr id="6" name="Carte Cache mount"/>
          <p:cNvSpPr/>
          <p:nvPr/>
        </p:nvSpPr>
        <p:spPr>
          <a:xfrm>
            <a:off x="603504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Bolt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ône FaBolt" descr="Icône 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4" y="1453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84848" y="13258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Cache mount</a:t>
            </a:r>
            <a:endParaRPr lang="en-US" sz="1400" dirty="0"/>
          </a:p>
        </p:txBody>
      </p:sp>
      <p:sp>
        <p:nvSpPr>
          <p:cNvPr id="10" name="Texte carte"/>
          <p:cNvSpPr txBox="1"/>
          <p:nvPr/>
        </p:nvSpPr>
        <p:spPr>
          <a:xfrm>
            <a:off x="6217920" y="1938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pip, npm, apt, go : builds plus rapides.</a:t>
            </a:r>
            <a:endParaRPr lang="en-US" sz="1200" dirty="0"/>
          </a:p>
        </p:txBody>
      </p:sp>
      <p:sp>
        <p:nvSpPr>
          <p:cNvPr id="11" name="Carte Secret mount"/>
          <p:cNvSpPr/>
          <p:nvPr/>
        </p:nvSpPr>
        <p:spPr>
          <a:xfrm>
            <a:off x="6035040" y="246888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Lock"/>
          <p:cNvSpPr/>
          <p:nvPr/>
        </p:nvSpPr>
        <p:spPr>
          <a:xfrm>
            <a:off x="6217920" y="26334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ône FaLock" descr="Icône 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27340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84848" y="26060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Secret mount</a:t>
            </a:r>
            <a:endParaRPr lang="en-US" sz="1400" dirty="0"/>
          </a:p>
        </p:txBody>
      </p:sp>
      <p:sp>
        <p:nvSpPr>
          <p:cNvPr id="15" name="Texte carte"/>
          <p:cNvSpPr txBox="1"/>
          <p:nvPr/>
        </p:nvSpPr>
        <p:spPr>
          <a:xfrm>
            <a:off x="6217920" y="3218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Disponible pendant ce RUN seulement.</a:t>
            </a:r>
            <a:endParaRPr lang="en-US" sz="1200" dirty="0"/>
          </a:p>
        </p:txBody>
      </p:sp>
      <p:sp>
        <p:nvSpPr>
          <p:cNvPr id="16" name="Encadré Attention"/>
          <p:cNvSpPr/>
          <p:nvPr/>
        </p:nvSpPr>
        <p:spPr>
          <a:xfrm>
            <a:off x="6035040" y="37947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 encadré FaExclamationTriangle"/>
          <p:cNvSpPr/>
          <p:nvPr/>
        </p:nvSpPr>
        <p:spPr>
          <a:xfrm>
            <a:off x="6172200" y="397764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ône FaExclamationTriangle" descr="Icône 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67" y="405810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6675120" y="3794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ARG et ENV laissent le secret dans docker history.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Multi-architecture et cache distant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987296"/>
          </a:xfrm>
          <a:prstGeom prst="roundRect">
            <a:avLst>
              <a:gd name="adj" fmla="val 27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buildx"/>
          <p:cNvSpPr txBox="1"/>
          <p:nvPr/>
        </p:nvSpPr>
        <p:spPr>
          <a:xfrm>
            <a:off x="621792" y="1316736"/>
            <a:ext cx="7900416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buildx create --name multi --use --bootstrap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buildx build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--platform linux/amd64,linux/arm64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--cache-from type=registry,ref=ghcr.io/org/app:cache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--cache-to   type=registry,ref=ghcr.io/org/app:cache,mode=max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--sbom=true --provenance=mode=max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-t ghcr.io/org/app:1.0 --push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buildx imagetools inspect ghcr.io/org/app:1.0</a:t>
            </a:r>
            <a:endParaRPr lang="en-US" sz="1100" dirty="0"/>
          </a:p>
        </p:txBody>
      </p:sp>
      <p:sp>
        <p:nvSpPr>
          <p:cNvPr id="6" name="Carte Variables auto"/>
          <p:cNvSpPr/>
          <p:nvPr/>
        </p:nvSpPr>
        <p:spPr>
          <a:xfrm>
            <a:off x="457200" y="3520440"/>
            <a:ext cx="2621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Microchip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Microchip" descr="Icône Fa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7856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36576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Variables auto</a:t>
            </a:r>
            <a:endParaRPr lang="en-US" sz="1400" dirty="0"/>
          </a:p>
        </p:txBody>
      </p:sp>
      <p:sp>
        <p:nvSpPr>
          <p:cNvPr id="10" name="Texte carte"/>
          <p:cNvSpPr txBox="1"/>
          <p:nvPr/>
        </p:nvSpPr>
        <p:spPr>
          <a:xfrm>
            <a:off x="640080" y="4270248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BUILDPLATFORM, TARGETOS, TARGETARCH.</a:t>
            </a:r>
            <a:endParaRPr lang="en-US" sz="1200" dirty="0"/>
          </a:p>
        </p:txBody>
      </p:sp>
      <p:sp>
        <p:nvSpPr>
          <p:cNvPr id="11" name="Carte Compilation croisée"/>
          <p:cNvSpPr/>
          <p:nvPr/>
        </p:nvSpPr>
        <p:spPr>
          <a:xfrm>
            <a:off x="3261360" y="3520440"/>
            <a:ext cx="2621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Route"/>
          <p:cNvSpPr/>
          <p:nvPr/>
        </p:nvSpPr>
        <p:spPr>
          <a:xfrm>
            <a:off x="3444240" y="3685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cône FaRoute" descr="Icône 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37856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11168" y="36576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Compilation croisée</a:t>
            </a:r>
            <a:endParaRPr lang="en-US" sz="1400" dirty="0"/>
          </a:p>
        </p:txBody>
      </p:sp>
      <p:sp>
        <p:nvSpPr>
          <p:cNvPr id="15" name="Texte carte"/>
          <p:cNvSpPr txBox="1"/>
          <p:nvPr/>
        </p:nvSpPr>
        <p:spPr>
          <a:xfrm>
            <a:off x="3444240" y="4270248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FROM --platform=$BUILDPLATFORM évite QEMU.</a:t>
            </a:r>
            <a:endParaRPr lang="en-US" sz="1200" dirty="0"/>
          </a:p>
        </p:txBody>
      </p:sp>
      <p:sp>
        <p:nvSpPr>
          <p:cNvPr id="16" name="Carte SBOM + provenance"/>
          <p:cNvSpPr/>
          <p:nvPr/>
        </p:nvSpPr>
        <p:spPr>
          <a:xfrm>
            <a:off x="6065520" y="3520440"/>
            <a:ext cx="26212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Pastille FaFileAlt"/>
          <p:cNvSpPr/>
          <p:nvPr/>
        </p:nvSpPr>
        <p:spPr>
          <a:xfrm>
            <a:off x="6248400" y="3685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ône FaFileAlt" descr="Icône 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84" y="378561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5328" y="365760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SBOM + provenance</a:t>
            </a:r>
            <a:endParaRPr lang="en-US" sz="1400" dirty="0"/>
          </a:p>
        </p:txBody>
      </p:sp>
      <p:sp>
        <p:nvSpPr>
          <p:cNvPr id="20" name="Texte carte"/>
          <p:cNvSpPr txBox="1"/>
          <p:nvPr/>
        </p:nvSpPr>
        <p:spPr>
          <a:xfrm>
            <a:off x="6248400" y="4270248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Inventaire et preuve de construction.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Images minimales : le choix</a:t>
            </a:r>
            <a:endParaRPr lang="en-US" sz="3000" dirty="0"/>
          </a:p>
        </p:txBody>
      </p:sp>
      <p:graphicFrame>
        <p:nvGraphicFramePr>
          <p:cNvPr id="4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Quand l'utiliser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Compromis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alpine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 et petit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musl peut surprendre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debian-slim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Meilleure compatibilité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peu plus lourd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distroless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 de shell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scratch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Binaire statique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Rien de plus : tout à copier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Chainguard / DHI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Images durcies, peu de CVE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Souvent payantes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Encadré Labo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astille encadré FaFlask"/>
          <p:cNvSpPr/>
          <p:nvPr/>
        </p:nvSpPr>
        <p:spPr>
          <a:xfrm>
            <a:off x="594360" y="41148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9526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97764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labos 6.1 à 6.6 : Go multi-stage, front nginx, build lent à optimiser, secret, multi-arch, Bake.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Volumes et gestion des données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Persister, partager, sauvegarder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Trois façons de stocker</a:t>
            </a:r>
            <a:endParaRPr lang="en-US" sz="3000" dirty="0"/>
          </a:p>
        </p:txBody>
      </p:sp>
      <p:sp>
        <p:nvSpPr>
          <p:cNvPr id="4" name="Carte Volume"/>
          <p:cNvSpPr/>
          <p:nvPr/>
        </p:nvSpPr>
        <p:spPr>
          <a:xfrm>
            <a:off x="457200" y="1188720"/>
            <a:ext cx="25908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Databas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Icône 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Volume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Géré par Docker. Bases de données, données applicatives. Recommandé en production.</a:t>
            </a:r>
            <a:endParaRPr lang="en-US" sz="1400" dirty="0"/>
          </a:p>
        </p:txBody>
      </p:sp>
      <p:sp>
        <p:nvSpPr>
          <p:cNvPr id="9" name="Carte Bind mount"/>
          <p:cNvSpPr/>
          <p:nvPr/>
        </p:nvSpPr>
        <p:spPr>
          <a:xfrm>
            <a:off x="3276600" y="1188720"/>
            <a:ext cx="25908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FolderOpen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FolderOpen" descr="Icône Fa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Bind mount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dossier de l'hôte. Idéal pour le code source en développement.</a:t>
            </a:r>
            <a:endParaRPr lang="en-US" sz="1400" dirty="0"/>
          </a:p>
        </p:txBody>
      </p:sp>
      <p:sp>
        <p:nvSpPr>
          <p:cNvPr id="14" name="Carte tmpfs"/>
          <p:cNvSpPr/>
          <p:nvPr/>
        </p:nvSpPr>
        <p:spPr>
          <a:xfrm>
            <a:off x="6096000" y="1188720"/>
            <a:ext cx="259080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Memory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Memory" descr="Icône FaMem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tmpfs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mémoire vive, jamais sur disque. Secrets et fichiers temporaires.</a:t>
            </a:r>
            <a:endParaRPr lang="en-US" sz="1400" dirty="0"/>
          </a:p>
        </p:txBody>
      </p:sp>
      <p:sp>
        <p:nvSpPr>
          <p:cNvPr id="19" name="Fond du code"/>
          <p:cNvSpPr/>
          <p:nvPr/>
        </p:nvSpPr>
        <p:spPr>
          <a:xfrm>
            <a:off x="457200" y="356616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Code mounts"/>
          <p:cNvSpPr txBox="1"/>
          <p:nvPr/>
        </p:nvSpPr>
        <p:spPr>
          <a:xfrm>
            <a:off x="621792" y="369417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pgdata:/var/lib/postgresql/data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volume nommé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"$PWD":/app:ro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bind mount en lecture seule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--tmpfs /tmp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# tmpfs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PostgreSQL qui survit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819656"/>
          </a:xfrm>
          <a:prstGeom prst="roundRect">
            <a:avLst>
              <a:gd name="adj" fmla="val 30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postgres volume"/>
          <p:cNvSpPr txBox="1"/>
          <p:nvPr/>
        </p:nvSpPr>
        <p:spPr>
          <a:xfrm>
            <a:off x="621792" y="1316736"/>
            <a:ext cx="790041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pg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 pgdata:/var/lib/postgresql/data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 POSTGRES_PASSWORD=x postgres:16-alpine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pg psql -U postgres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-c "create table t(n int); insert into t values (1),(2);"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rm -f pg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# le volume survit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pg -v pgdata:/var/lib/postgresql/data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 POSTGRES_PASSWORD=x postgres:16-alpine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pg psql -U postgres -c "select * from t;"</a:t>
            </a:r>
            <a:endParaRPr lang="en-US" sz="1100" dirty="0"/>
          </a:p>
        </p:txBody>
      </p:sp>
      <p:sp>
        <p:nvSpPr>
          <p:cNvPr id="6" name="Liste à puces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Volume vide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y copie le contenu du dossier de l'image au premier montage.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Bind mount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masque le contenu de l'image à cet endroit.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Sauvegarder et restaurer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2154936"/>
          </a:xfrm>
          <a:prstGeom prst="roundRect">
            <a:avLst>
              <a:gd name="adj" fmla="val 25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backup"/>
          <p:cNvSpPr txBox="1"/>
          <p:nvPr/>
        </p:nvSpPr>
        <p:spPr>
          <a:xfrm>
            <a:off x="621792" y="1316736"/>
            <a:ext cx="7900416" cy="189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Sauvegarde d'un volume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pgdata:/data:ro -v "$PWD":/backup alpine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 czf /backup/pgdata-$(date +%F).tar.gz -C /data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Restauration dans un nouveau volume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pgdata-restore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pgdata-restore:/data -v "$PWD":/backup alpine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 xzf /backup/pgdata-2026-01-01.tar.gz -C /data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 de données : dump logique, plus sûr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pg pg_dump -U postgres formation &gt; formation.sql</a:t>
            </a:r>
            <a:endParaRPr lang="en-US" sz="1100" dirty="0"/>
          </a:p>
        </p:txBody>
      </p:sp>
      <p:sp>
        <p:nvSpPr>
          <p:cNvPr id="6" name="Encadré Attention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Pastille encadré FaExclamationTriangle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cône FaExclamationTriangle" descr="Icône 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40987"/>
            <a:ext cx="204826" cy="204826"/>
          </a:xfrm>
          <a:prstGeom prst="rect">
            <a:avLst/>
          </a:prstGeom>
        </p:spPr>
      </p:pic>
      <p:sp>
        <p:nvSpPr>
          <p:cNvPr id="9" name="Texte encadré"/>
          <p:cNvSpPr txBox="1"/>
          <p:nvPr/>
        </p:nvSpPr>
        <p:spPr>
          <a:xfrm>
            <a:off x="1097280" y="406908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copier à chaud les fichiers d'une base peut produire une sauvegarde corrompue.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Permissions et pièges courants</a:t>
            </a:r>
            <a:endParaRPr lang="en-US" sz="3000" dirty="0"/>
          </a:p>
        </p:txBody>
      </p:sp>
      <p:graphicFrame>
        <p:nvGraphicFramePr>
          <p:cNvPr id="51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Symptôme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permission denied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UID du conteneur ≠ propriétaire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chown dans l'image ou -u $(id -u):$(id -g)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Fichiers créés en root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Conteneur root + bind mount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Utilisateur non-root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Accès refusé (Fedora, RHEL)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SELinux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Suffixe :z ou :Z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Volumes orphelins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VOLUME anonyme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 volume ls -f dangling=true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Labo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astille encadré FaFlask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92094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6576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labos 7.1 à 7.5 : base persistante, scripts backup/restore, dev à chaud, partage, conteneur durci.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 réseau Docker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Bridge, DNS, publication de ports, reverse proxy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pilotes réseau</a:t>
            </a:r>
            <a:endParaRPr lang="en-US" sz="3000" dirty="0"/>
          </a:p>
        </p:txBody>
      </p:sp>
      <p:graphicFrame>
        <p:nvGraphicFramePr>
          <p:cNvPr id="5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Pilote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bridge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Réseau privé sur l'hôte (défaut)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Conteneurs d'un même hôte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Partage la pile réseau de l'hôte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Performance, outils réseau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Seulement loopback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Isolation totale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overlay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Multi-hôtes (VXLAN)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Swarm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macvlan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IP/MAC propres sur le LAN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Intégration legacy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Bridge par défaut ou bridge utilisateur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84632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réseau"/>
          <p:cNvSpPr txBox="1"/>
          <p:nvPr/>
        </p:nvSpPr>
        <p:spPr>
          <a:xfrm>
            <a:off x="621792" y="1316736"/>
            <a:ext cx="451713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app-net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db --network app-net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 POSTGRES_PASSWORD=x postgres:16-alpine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--network app-net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alpine ping -c1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résolution par nom (DNS 127.0.0.11)</a:t>
            </a:r>
            <a:endParaRPr lang="en-US" sz="1100" dirty="0"/>
          </a:p>
        </p:txBody>
      </p:sp>
      <p:graphicFrame>
        <p:nvGraphicFramePr>
          <p:cNvPr id="5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88720"/>
          <a:ext cx="3200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bridge défaut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bridge utilisateur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DNS par nom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Isolation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Tout mélangé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 réseau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Connexion à chaud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Encadré À retenir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tille encadré FaCheckCircle"/>
          <p:cNvSpPr/>
          <p:nvPr/>
        </p:nvSpPr>
        <p:spPr>
          <a:xfrm>
            <a:off x="594360" y="38176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89808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365760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 un même réseau, joignez db:5432 (nom et port interne), jamais localhost.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cloisonnée à trois niveaux</a:t>
            </a:r>
            <a:endParaRPr lang="en-US" sz="3000" dirty="0"/>
          </a:p>
        </p:txBody>
      </p:sp>
      <p:sp>
        <p:nvSpPr>
          <p:cNvPr id="4" name="Bloc Internet"/>
          <p:cNvSpPr/>
          <p:nvPr/>
        </p:nvSpPr>
        <p:spPr>
          <a:xfrm>
            <a:off x="457200" y="2011680"/>
            <a:ext cx="17373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Internet</a:t>
            </a:r>
            <a:endParaRPr lang="en-US" sz="1500" dirty="0"/>
          </a:p>
        </p:txBody>
      </p:sp>
      <p:sp>
        <p:nvSpPr>
          <p:cNvPr id="6" name="Bloc proxy (nginx)"/>
          <p:cNvSpPr/>
          <p:nvPr/>
        </p:nvSpPr>
        <p:spPr>
          <a:xfrm>
            <a:off x="2743200" y="2011680"/>
            <a:ext cx="1737360" cy="9144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8892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proxy (nginx)</a:t>
            </a:r>
            <a:endParaRPr lang="en-US" sz="1400" dirty="0"/>
          </a:p>
        </p:txBody>
      </p:sp>
      <p:sp>
        <p:nvSpPr>
          <p:cNvPr id="8" name="Bloc api"/>
          <p:cNvSpPr/>
          <p:nvPr/>
        </p:nvSpPr>
        <p:spPr>
          <a:xfrm>
            <a:off x="4937760" y="2011680"/>
            <a:ext cx="155448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</p:txBody>
      </p:sp>
      <p:sp>
        <p:nvSpPr>
          <p:cNvPr id="10" name="Bloc db"/>
          <p:cNvSpPr/>
          <p:nvPr/>
        </p:nvSpPr>
        <p:spPr>
          <a:xfrm>
            <a:off x="6949440" y="2011680"/>
            <a:ext cx="173736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40280" y="2359152"/>
            <a:ext cx="45720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2359152"/>
            <a:ext cx="45720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359152"/>
            <a:ext cx="45720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517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réseau frontend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réseau backend (--internal)</a:t>
            </a:r>
            <a:endParaRPr lang="en-US" sz="1400" dirty="0"/>
          </a:p>
        </p:txBody>
      </p:sp>
      <p:sp>
        <p:nvSpPr>
          <p:cNvPr id="17" name="Fond du code"/>
          <p:cNvSpPr/>
          <p:nvPr/>
        </p:nvSpPr>
        <p:spPr>
          <a:xfrm>
            <a:off x="457200" y="361188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ode 3 tiers"/>
          <p:cNvSpPr txBox="1"/>
          <p:nvPr/>
        </p:nvSpPr>
        <p:spPr>
          <a:xfrm>
            <a:off x="621792" y="373989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frontend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--internal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connect frontend api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api sur les deux réseaux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Publication de ports : les pièges</a:t>
            </a:r>
            <a:endParaRPr lang="en-US" sz="3000" dirty="0"/>
          </a:p>
        </p:txBody>
      </p:sp>
      <p:graphicFrame>
        <p:nvGraphicFramePr>
          <p:cNvPr id="5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Symptôme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Cause probable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connection refused sur localhost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l'appli écoute sur 127.0.0.1 au lieu de 0.0.0.0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could not translate host name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bridge par défaut ou réseaux différents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port is already allocated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processus utilise déjà le port de l'hôte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Port exposé malgré ufw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 insère ses règles avant celles d'ufw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Astuce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stille encadré FaLightbulb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92094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6576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publiez sur 127.0.0.1 en dev, et faites passer la production par un seul reverse proxy.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Diagnostiquer avec netshoot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8229600" cy="1484376"/>
          </a:xfrm>
          <a:prstGeom prst="roundRect">
            <a:avLst>
              <a:gd name="adj" fmla="val 3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netshoot"/>
          <p:cNvSpPr txBox="1"/>
          <p:nvPr/>
        </p:nvSpPr>
        <p:spPr>
          <a:xfrm>
            <a:off x="621792" y="1316736"/>
            <a:ext cx="7900416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nginx:alpine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-it --network container:web nicolaka/netshoot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ss -tlnp ; curl localhost ; tcpdump -i eth0 -n port 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web cat /etc/resolv.conf /etc/hosts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inspect app-net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--format '{{range .Containers}}{{.Name}} {{.IPv4Address}}{{"\n"}}{{end}}'</a:t>
            </a:r>
            <a:endParaRPr lang="en-US" sz="1100" dirty="0"/>
          </a:p>
        </p:txBody>
      </p:sp>
      <p:sp>
        <p:nvSpPr>
          <p:cNvPr id="6" name="Encadré Labo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stille encadré FaFlask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920947"/>
            <a:ext cx="204826" cy="204826"/>
          </a:xfrm>
          <a:prstGeom prst="rect">
            <a:avLst/>
          </a:prstGeom>
        </p:spPr>
      </p:pic>
      <p:sp>
        <p:nvSpPr>
          <p:cNvPr id="9" name="Texte encadré"/>
          <p:cNvSpPr txBox="1"/>
          <p:nvPr/>
        </p:nvSpPr>
        <p:spPr>
          <a:xfrm>
            <a:off x="1097280" y="36576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labos 8.1 à 8.5 : trois niveaux cloisonnés, DNS et alias, reverse proxy, pannes, macvlan.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09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Docker Compose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Décrire et lancer une application multi-services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Pourquoi Compose</a:t>
            </a:r>
            <a:endParaRPr lang="en-US" sz="3000" dirty="0"/>
          </a:p>
        </p:txBody>
      </p:sp>
      <p:sp>
        <p:nvSpPr>
          <p:cNvPr id="4" name="Carte Sans Compose"/>
          <p:cNvSpPr/>
          <p:nvPr/>
        </p:nvSpPr>
        <p:spPr>
          <a:xfrm>
            <a:off x="457200" y="1188720"/>
            <a:ext cx="39776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Terminal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ône FaTerminal" descr="Icône Fa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Sans Compose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Plusieurs docker run interminables : fragile, difficile à relire, non reproductible.</a:t>
            </a:r>
            <a:endParaRPr lang="en-US" sz="1500" dirty="0"/>
          </a:p>
        </p:txBody>
      </p:sp>
      <p:sp>
        <p:nvSpPr>
          <p:cNvPr id="9" name="Carte Avec Compose"/>
          <p:cNvSpPr/>
          <p:nvPr/>
        </p:nvSpPr>
        <p:spPr>
          <a:xfrm>
            <a:off x="4709160" y="1188720"/>
            <a:ext cx="39776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FileCode"/>
          <p:cNvSpPr/>
          <p:nvPr/>
        </p:nvSpPr>
        <p:spPr>
          <a:xfrm>
            <a:off x="489204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FaFileCode" descr="Icône FaFile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5896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Avec Compose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92040" y="193852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compose.yaml versionné décrit services, réseaux, volumes, secrets. Un seul up.</a:t>
            </a:r>
            <a:endParaRPr lang="en-US" sz="1500" dirty="0"/>
          </a:p>
        </p:txBody>
      </p:sp>
      <p:sp>
        <p:nvSpPr>
          <p:cNvPr id="14" name="Fond du code"/>
          <p:cNvSpPr/>
          <p:nvPr/>
        </p:nvSpPr>
        <p:spPr>
          <a:xfrm>
            <a:off x="457200" y="3246120"/>
            <a:ext cx="8229600" cy="859536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ode compose"/>
          <p:cNvSpPr txBox="1"/>
          <p:nvPr/>
        </p:nvSpPr>
        <p:spPr>
          <a:xfrm>
            <a:off x="621792" y="3374136"/>
            <a:ext cx="7900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 --wait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tout démarrer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down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tout arrêter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down -v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# + supprimer les volumes</a:t>
            </a:r>
            <a:endParaRPr lang="en-US" sz="1200" dirty="0"/>
          </a:p>
        </p:txBody>
      </p:sp>
      <p:sp>
        <p:nvSpPr>
          <p:cNvPr id="16" name="Encadré Astuce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Pastille encadré FaLightbulb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ône FaLightbulb" descr="Icône 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437814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1097280" y="425196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docker compose (v2, plugin) ; le champ version: est obsolète.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Anatomie d'un compose.yaml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43000"/>
            <a:ext cx="5212080" cy="3328416"/>
          </a:xfrm>
          <a:prstGeom prst="roundRect">
            <a:avLst>
              <a:gd name="adj" fmla="val 16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compose"/>
          <p:cNvSpPr txBox="1"/>
          <p:nvPr/>
        </p:nvSpPr>
        <p:spPr>
          <a:xfrm>
            <a:off x="621792" y="1271016"/>
            <a:ext cx="48828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./web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{ DB_HOST: db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db: { condition: service_healthy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[front, back]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 [pgdata:/var/lib/postgresql/data]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[back]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["CMD-SHELL", "pg_isready -U app"]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back: { internal: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pgdata:</a:t>
            </a:r>
            <a:endParaRPr lang="en-US" sz="1100" dirty="0"/>
          </a:p>
        </p:txBody>
      </p:sp>
      <p:sp>
        <p:nvSpPr>
          <p:cNvPr id="6" name="Carte depends_on"/>
          <p:cNvSpPr/>
          <p:nvPr/>
        </p:nvSpPr>
        <p:spPr>
          <a:xfrm>
            <a:off x="5852160" y="1143000"/>
            <a:ext cx="283464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Heartbeat"/>
          <p:cNvSpPr/>
          <p:nvPr/>
        </p:nvSpPr>
        <p:spPr>
          <a:xfrm>
            <a:off x="6035040" y="1307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ône FaHeartbeat" descr="Icône 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5624" y="14081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01968" y="12801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depends_on</a:t>
            </a:r>
            <a:endParaRPr lang="en-US" sz="1400" dirty="0"/>
          </a:p>
        </p:txBody>
      </p:sp>
      <p:sp>
        <p:nvSpPr>
          <p:cNvPr id="10" name="Texte carte"/>
          <p:cNvSpPr txBox="1"/>
          <p:nvPr/>
        </p:nvSpPr>
        <p:spPr>
          <a:xfrm>
            <a:off x="603504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service_healthy attend vraiment que la base soit prête.</a:t>
            </a:r>
            <a:endParaRPr lang="en-US" sz="1200" dirty="0"/>
          </a:p>
        </p:txBody>
      </p:sp>
      <p:sp>
        <p:nvSpPr>
          <p:cNvPr id="11" name="Carte Réseaux"/>
          <p:cNvSpPr/>
          <p:nvPr/>
        </p:nvSpPr>
        <p:spPr>
          <a:xfrm>
            <a:off x="5852160" y="2350008"/>
            <a:ext cx="283464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NetworkWired"/>
          <p:cNvSpPr/>
          <p:nvPr/>
        </p:nvSpPr>
        <p:spPr>
          <a:xfrm>
            <a:off x="603504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ône FaNetworkWired" descr="Icône 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6151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01968" y="248716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Réseaux</a:t>
            </a:r>
            <a:endParaRPr lang="en-US" sz="1400" dirty="0"/>
          </a:p>
        </p:txBody>
      </p:sp>
      <p:sp>
        <p:nvSpPr>
          <p:cNvPr id="15" name="Texte carte"/>
          <p:cNvSpPr txBox="1"/>
          <p:nvPr/>
        </p:nvSpPr>
        <p:spPr>
          <a:xfrm>
            <a:off x="6035040" y="3099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back est internal : pas d'accès sortant.</a:t>
            </a:r>
            <a:endParaRPr lang="en-US" sz="1200" dirty="0"/>
          </a:p>
        </p:txBody>
      </p:sp>
      <p:sp>
        <p:nvSpPr>
          <p:cNvPr id="16" name="Carte Volume"/>
          <p:cNvSpPr/>
          <p:nvPr/>
        </p:nvSpPr>
        <p:spPr>
          <a:xfrm>
            <a:off x="5852160" y="3557016"/>
            <a:ext cx="283464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Pastille FaDatabase"/>
          <p:cNvSpPr/>
          <p:nvPr/>
        </p:nvSpPr>
        <p:spPr>
          <a:xfrm>
            <a:off x="6035040" y="37216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ône FaDatabase" descr="Icône 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8221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01968" y="36941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Volume</a:t>
            </a:r>
            <a:endParaRPr lang="en-US" sz="1400" dirty="0"/>
          </a:p>
        </p:txBody>
      </p:sp>
      <p:sp>
        <p:nvSpPr>
          <p:cNvPr id="20" name="Texte carte"/>
          <p:cNvSpPr txBox="1"/>
          <p:nvPr/>
        </p:nvSpPr>
        <p:spPr>
          <a:xfrm>
            <a:off x="6035040" y="4306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pgdata survit à docker compose down.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Secrets, variables, profils, override</a:t>
            </a:r>
            <a:endParaRPr lang="en-US" sz="3000" dirty="0"/>
          </a:p>
        </p:txBody>
      </p:sp>
      <p:sp>
        <p:nvSpPr>
          <p:cNvPr id="4" name="Carte Secrets"/>
          <p:cNvSpPr/>
          <p:nvPr/>
        </p:nvSpPr>
        <p:spPr>
          <a:xfrm>
            <a:off x="457200" y="11887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Key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ône FaKey" descr="Icône 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Secrets</a:t>
            </a:r>
            <a:endParaRPr lang="en-US" sz="15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secrets: monte un fichier dans /run/secrets. Postgres lit POSTGRES_PASSWORD_FILE.</a:t>
            </a:r>
            <a:endParaRPr lang="en-US" sz="1300" dirty="0"/>
          </a:p>
        </p:txBody>
      </p:sp>
      <p:sp>
        <p:nvSpPr>
          <p:cNvPr id="9" name="Carte Variables"/>
          <p:cNvSpPr/>
          <p:nvPr/>
        </p:nvSpPr>
        <p:spPr>
          <a:xfrm>
            <a:off x="4640580" y="11887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SlidersH"/>
          <p:cNvSpPr/>
          <p:nvPr/>
        </p:nvSpPr>
        <p:spPr>
          <a:xfrm>
            <a:off x="482346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 FaSlidersH" descr="Icône Fa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0388" y="132588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Variables</a:t>
            </a:r>
            <a:endParaRPr lang="en-US" sz="15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23460" y="193852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${VAR:-defaut}, ${VAR:?erreur}. Vérifier avec docker compose config.</a:t>
            </a:r>
            <a:endParaRPr lang="en-US" sz="1300" dirty="0"/>
          </a:p>
        </p:txBody>
      </p:sp>
      <p:sp>
        <p:nvSpPr>
          <p:cNvPr id="14" name="Carte Profils"/>
          <p:cNvSpPr/>
          <p:nvPr/>
        </p:nvSpPr>
        <p:spPr>
          <a:xfrm>
            <a:off x="457200" y="26517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ToggleOn"/>
          <p:cNvSpPr/>
          <p:nvPr/>
        </p:nvSpPr>
        <p:spPr>
          <a:xfrm>
            <a:off x="640080" y="281635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ône FaToggleOn" descr="Icône FaToggle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91693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278892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Profils</a:t>
            </a:r>
            <a:endParaRPr lang="en-US" sz="1500" dirty="0"/>
          </a:p>
        </p:txBody>
      </p:sp>
      <p:sp>
        <p:nvSpPr>
          <p:cNvPr id="18" name="Texte carte"/>
          <p:cNvSpPr txBox="1"/>
          <p:nvPr/>
        </p:nvSpPr>
        <p:spPr>
          <a:xfrm>
            <a:off x="640080" y="340156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profiles: [debug] : services optionnels, démarrés à la demande.</a:t>
            </a:r>
            <a:endParaRPr lang="en-US" sz="1300" dirty="0"/>
          </a:p>
        </p:txBody>
      </p:sp>
      <p:sp>
        <p:nvSpPr>
          <p:cNvPr id="19" name="Carte Override"/>
          <p:cNvSpPr/>
          <p:nvPr/>
        </p:nvSpPr>
        <p:spPr>
          <a:xfrm>
            <a:off x="4640580" y="26517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Pastille FaCopy"/>
          <p:cNvSpPr/>
          <p:nvPr/>
        </p:nvSpPr>
        <p:spPr>
          <a:xfrm>
            <a:off x="4823460" y="28163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ône FaCopy" descr="Icône FaCop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91693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0388" y="278892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Override</a:t>
            </a:r>
            <a:endParaRPr lang="en-US" sz="1500" dirty="0"/>
          </a:p>
        </p:txBody>
      </p:sp>
      <p:sp>
        <p:nvSpPr>
          <p:cNvPr id="23" name="Texte carte"/>
          <p:cNvSpPr txBox="1"/>
          <p:nvPr/>
        </p:nvSpPr>
        <p:spPr>
          <a:xfrm>
            <a:off x="4823460" y="340156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compose.override.yaml appliqué en dev ; compose.prod.yaml avec -f.</a:t>
            </a:r>
            <a:endParaRPr lang="en-US" sz="1300" dirty="0"/>
          </a:p>
        </p:txBody>
      </p:sp>
      <p:sp>
        <p:nvSpPr>
          <p:cNvPr id="24" name="Encadré Attention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Pastille encadré FaExclamationTriangle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cône FaExclamationTriangle" descr="Icône 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" y="4240987"/>
            <a:ext cx="204826" cy="204826"/>
          </a:xfrm>
          <a:prstGeom prst="rect">
            <a:avLst/>
          </a:prstGeom>
        </p:spPr>
      </p:pic>
      <p:sp>
        <p:nvSpPr>
          <p:cNvPr id="27" name="Texte encadré"/>
          <p:cNvSpPr txBox="1"/>
          <p:nvPr/>
        </p:nvSpPr>
        <p:spPr>
          <a:xfrm>
            <a:off x="1097280" y="40233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 ne lit son mot de passe qu'à l'initialisation du volume : le changer après désynchronise l'appli.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stack d'exemple du dépôt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réseau front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réseau back (internal)</a:t>
            </a:r>
            <a:endParaRPr lang="en-US" sz="1400" dirty="0"/>
          </a:p>
        </p:txBody>
      </p:sp>
      <p:sp>
        <p:nvSpPr>
          <p:cNvPr id="6" name="Bloc proxy nginx"/>
          <p:cNvSpPr/>
          <p:nvPr/>
        </p:nvSpPr>
        <p:spPr>
          <a:xfrm>
            <a:off x="45720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proxy nginx</a:t>
            </a:r>
            <a:endParaRPr lang="en-US" sz="1400" dirty="0"/>
          </a:p>
        </p:txBody>
      </p:sp>
      <p:sp>
        <p:nvSpPr>
          <p:cNvPr id="8" name="Bloc web Flask"/>
          <p:cNvSpPr/>
          <p:nvPr/>
        </p:nvSpPr>
        <p:spPr>
          <a:xfrm>
            <a:off x="256032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0604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 Flask</a:t>
            </a:r>
            <a:endParaRPr lang="en-US" sz="1400" dirty="0"/>
          </a:p>
        </p:txBody>
      </p:sp>
      <p:sp>
        <p:nvSpPr>
          <p:cNvPr id="10" name="Bloc Postgres"/>
          <p:cNvSpPr/>
          <p:nvPr/>
        </p:nvSpPr>
        <p:spPr>
          <a:xfrm>
            <a:off x="530352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</a:t>
            </a:r>
            <a:endParaRPr lang="en-US" sz="1400" dirty="0"/>
          </a:p>
        </p:txBody>
      </p:sp>
      <p:sp>
        <p:nvSpPr>
          <p:cNvPr id="12" name="Bloc Redis"/>
          <p:cNvSpPr/>
          <p:nvPr/>
        </p:nvSpPr>
        <p:spPr>
          <a:xfrm>
            <a:off x="7132320" y="1645920"/>
            <a:ext cx="155448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Redis</a:t>
            </a:r>
            <a:endParaRPr lang="en-US" sz="1400" dirty="0"/>
          </a:p>
        </p:txBody>
      </p:sp>
      <p:sp>
        <p:nvSpPr>
          <p:cNvPr id="14" name="Bloc adminer (profil debu"/>
          <p:cNvSpPr/>
          <p:nvPr/>
        </p:nvSpPr>
        <p:spPr>
          <a:xfrm>
            <a:off x="5303520" y="2651760"/>
            <a:ext cx="338328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adminer (profil debug)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57400" y="1892808"/>
            <a:ext cx="45720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1892808"/>
            <a:ext cx="1097280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Fond du code"/>
          <p:cNvSpPr/>
          <p:nvPr/>
        </p:nvSpPr>
        <p:spPr>
          <a:xfrm>
            <a:off x="457200" y="347472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Code stack"/>
          <p:cNvSpPr txBox="1"/>
          <p:nvPr/>
        </p:nvSpPr>
        <p:spPr>
          <a:xfrm>
            <a:off x="621792" y="360273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secrets/db_password.txt.example secrets/db_password.txt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 --wait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{"hits_redis":1,"visits_postgres":1,...}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Commandes Compose essentielles</a:t>
            </a:r>
            <a:endParaRPr lang="en-US" sz="3000" dirty="0"/>
          </a:p>
        </p:txBody>
      </p:sp>
      <p:graphicFrame>
        <p:nvGraphicFramePr>
          <p:cNvPr id="6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up -d [--build] [--wait]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crée et démarre, attend les healthchecks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down [-v]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arrête, supprime (et les volumes avec -v)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ps  ·  logs -f svc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état et journaux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exec svc sh  ·  run --rm svc cmd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shell ou tâche ponctuelle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up -d --scale web=3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réplicas (sans container_name)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config  ·  watch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config finale validée ; hot reload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Labo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astille encadré FaFlask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10382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84048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labos 9.1 à 9.6 : stack, votre application, migrations, profils, watch, validation en 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Docker en CI/CD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Construire une fois, promouvoir la même image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chaîne de livraison</a:t>
            </a:r>
            <a:endParaRPr lang="en-US" sz="3000" dirty="0"/>
          </a:p>
        </p:txBody>
      </p:sp>
      <p:sp>
        <p:nvSpPr>
          <p:cNvPr id="4" name="Étape Lint"/>
          <p:cNvSpPr/>
          <p:nvPr/>
        </p:nvSpPr>
        <p:spPr>
          <a:xfrm>
            <a:off x="457200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Lint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hadolint, compose config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563624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Build"/>
          <p:cNvSpPr/>
          <p:nvPr/>
        </p:nvSpPr>
        <p:spPr>
          <a:xfrm>
            <a:off x="1892808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938528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47088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BuildKit + cache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2999232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Tests"/>
          <p:cNvSpPr/>
          <p:nvPr/>
        </p:nvSpPr>
        <p:spPr>
          <a:xfrm>
            <a:off x="3328416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74136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82696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test, compose --wait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4434840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Scan CVE"/>
          <p:cNvSpPr/>
          <p:nvPr/>
        </p:nvSpPr>
        <p:spPr>
          <a:xfrm>
            <a:off x="4764024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09744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Scan CVE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Trivy, seuil bloquant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5870448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Push"/>
          <p:cNvSpPr/>
          <p:nvPr/>
        </p:nvSpPr>
        <p:spPr>
          <a:xfrm>
            <a:off x="6199632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45352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Push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53912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tags SHA + semver</a:t>
            </a:r>
            <a:endParaRPr lang="en-US" sz="1200" dirty="0"/>
          </a:p>
        </p:txBody>
      </p:sp>
      <p:sp>
        <p:nvSpPr>
          <p:cNvPr id="23" name="Flèche"/>
          <p:cNvSpPr/>
          <p:nvPr/>
        </p:nvSpPr>
        <p:spPr>
          <a:xfrm>
            <a:off x="7306056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Étape Déploiement"/>
          <p:cNvSpPr/>
          <p:nvPr/>
        </p:nvSpPr>
        <p:spPr>
          <a:xfrm>
            <a:off x="7635240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680960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Déploiement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pull + up -d, rollback</a:t>
            </a:r>
            <a:endParaRPr lang="en-US" sz="1200" dirty="0"/>
          </a:p>
        </p:txBody>
      </p:sp>
      <p:sp>
        <p:nvSpPr>
          <p:cNvPr id="27" name="Encadré À retenir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Pastille encadré FaCheckCircle"/>
          <p:cNvSpPr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012387"/>
            <a:ext cx="204826" cy="204826"/>
          </a:xfrm>
          <a:prstGeom prst="rect">
            <a:avLst/>
          </a:prstGeom>
        </p:spPr>
      </p:pic>
      <p:sp>
        <p:nvSpPr>
          <p:cNvPr id="30" name="Texte encadré"/>
          <p:cNvSpPr txBox="1"/>
          <p:nvPr/>
        </p:nvSpPr>
        <p:spPr>
          <a:xfrm>
            <a:off x="1097280" y="374904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construire une seule fois ; ne jamais reconstruire pour un autre environnement.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Stratégie de tags</a:t>
            </a:r>
            <a:endParaRPr lang="en-US" sz="3000" dirty="0"/>
          </a:p>
        </p:txBody>
      </p:sp>
      <p:graphicFrame>
        <p:nvGraphicFramePr>
          <p:cNvPr id="6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SHA du commit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app:sha-3f2a1b9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Traçabilité immuable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app:1.4.2 · 1.4 ·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Releases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Branche / PR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app:main · app:pr-42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Environnements de 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app:latest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À éviter pour déployer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Astuce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stille encadré FaLightbulb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docker/metadata-action génère ces tags automatiquement dans GitHub 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Pipeline GitHub Actions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43000"/>
            <a:ext cx="8229600" cy="3054096"/>
          </a:xfrm>
          <a:prstGeom prst="roundRect">
            <a:avLst>
              <a:gd name="adj" fmla="val 17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GitHub Actions"/>
          <p:cNvSpPr txBox="1"/>
          <p:nvPr/>
        </p:nvSpPr>
        <p:spPr>
          <a:xfrm>
            <a:off x="621792" y="1271016"/>
            <a:ext cx="79004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{ contents: read, packages: write, id-token: write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docker/setup-buildx-action@v3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docker/login-action@v3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 { registry: ghcr.io, username: "${{ github.actor }}",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password: "${{ secrets.GITHUB_TOKEN }}"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docker/metadata-action@v5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tags + labels OCI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meta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 { images: ghcr.io/${{ github.repository }}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docker/build-push-action@v6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 { push: true, tags: "${{ steps.meta.outputs.tags }}",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platforms: "linux/amd64,linux/arm64",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cache-from: type=gha, cache-to: "type=gha,mode=max",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sbom: true, provenance: mode=max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aquasecurity/trivy-action@0.28.0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with: { image-ref: "...@${{ steps.build.outputs.digest }}",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severity: CRITICAL, exit-code: "1"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Tests d'intégration avec Compose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43000"/>
            <a:ext cx="8229600" cy="1408176"/>
          </a:xfrm>
          <a:prstGeom prst="roundRect">
            <a:avLst>
              <a:gd name="adj" fmla="val 38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intégration"/>
          <p:cNvSpPr txBox="1"/>
          <p:nvPr/>
        </p:nvSpPr>
        <p:spPr>
          <a:xfrm>
            <a:off x="621792" y="1271016"/>
            <a:ext cx="7900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docker compose up -d --build --wait --wait-timeout 120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./scripts/smoke-test.sh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curl : santé, CRUD,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if: failure()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docker compose logs --no-color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if: always()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docker compose down -v</a:t>
            </a:r>
            <a:endParaRPr lang="en-US" sz="1200" dirty="0"/>
          </a:p>
        </p:txBody>
      </p:sp>
      <p:sp>
        <p:nvSpPr>
          <p:cNvPr id="6" name="Carte Stage test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Vial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ône FaVial" descr="Icône FaV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0083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2880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Stage test</a:t>
            </a:r>
            <a:endParaRPr lang="en-US" sz="1500" dirty="0"/>
          </a:p>
        </p:txBody>
      </p:sp>
      <p:sp>
        <p:nvSpPr>
          <p:cNvPr id="10" name="Texte carte"/>
          <p:cNvSpPr txBox="1"/>
          <p:nvPr/>
        </p:nvSpPr>
        <p:spPr>
          <a:xfrm>
            <a:off x="640080" y="3493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python -m pytest -q : pas de tests verts, pas d'image.</a:t>
            </a:r>
            <a:endParaRPr lang="en-US" sz="1300" dirty="0"/>
          </a:p>
        </p:txBody>
      </p:sp>
      <p:sp>
        <p:nvSpPr>
          <p:cNvPr id="11" name="Carte Testcontainers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Boxes"/>
          <p:cNvSpPr/>
          <p:nvPr/>
        </p:nvSpPr>
        <p:spPr>
          <a:xfrm>
            <a:off x="4846320" y="29077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cône FaBoxes" descr="Icône Fa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300837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13248" y="2880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Testcontainers</a:t>
            </a:r>
            <a:endParaRPr lang="en-US" sz="1500" dirty="0"/>
          </a:p>
        </p:txBody>
      </p:sp>
      <p:sp>
        <p:nvSpPr>
          <p:cNvPr id="15" name="Texte carte"/>
          <p:cNvSpPr txBox="1"/>
          <p:nvPr/>
        </p:nvSpPr>
        <p:spPr>
          <a:xfrm>
            <a:off x="4846320" y="3493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Démarrer des dépendances réelles depuis les tests.</a:t>
            </a:r>
            <a:endParaRPr lang="en-US" sz="1300" dirty="0"/>
          </a:p>
        </p:txBody>
      </p:sp>
      <p:sp>
        <p:nvSpPr>
          <p:cNvPr id="16" name="Encadré Attention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 encadré FaExclamationTriangle"/>
          <p:cNvSpPr/>
          <p:nvPr/>
        </p:nvSpPr>
        <p:spPr>
          <a:xfrm>
            <a:off x="594360" y="42291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ône FaExclamationTriangle" descr="Icône 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430956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1097280" y="416052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incident réel de ce dépôt : pytest seul ne trouvait pas le module app ; corrigé avec python -m pytest.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Déployer et revenir en arrière</a:t>
            </a:r>
            <a:endParaRPr lang="en-US" sz="3000" dirty="0"/>
          </a:p>
        </p:txBody>
      </p:sp>
      <p:graphicFrame>
        <p:nvGraphicFramePr>
          <p:cNvPr id="6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Serveur unique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SSH + docker compose pull &amp;&amp; up -d --wait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Swarm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 stack deploy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Kubernetes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Helm, Kustomize, GitOps (Argo CD, Flux)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Serverless conteneurs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Run, ECS Fargate, Azure Container Apps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À retenir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 encadré FaCheckCircle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rollback = TAG=&lt;version précédente&gt; docker compose up -d --wait.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11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Sécurité Docker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Défense en profondeur, du démon à la chaîne d'approvisionnement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défense en profondeur</a:t>
            </a:r>
            <a:endParaRPr lang="en-US" sz="3000" dirty="0"/>
          </a:p>
        </p:txBody>
      </p:sp>
      <p:sp>
        <p:nvSpPr>
          <p:cNvPr id="4" name="Bloc Hôte à jour et durci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96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Hôte à jour et durci</a:t>
            </a:r>
            <a:endParaRPr lang="en-US" sz="1400" dirty="0"/>
          </a:p>
        </p:txBody>
      </p:sp>
      <p:sp>
        <p:nvSpPr>
          <p:cNvPr id="6" name="Bloc Démon : rootless, so"/>
          <p:cNvSpPr/>
          <p:nvPr/>
        </p:nvSpPr>
        <p:spPr>
          <a:xfrm>
            <a:off x="777240" y="1892808"/>
            <a:ext cx="7589520" cy="566928"/>
          </a:xfrm>
          <a:prstGeom prst="roundRect">
            <a:avLst>
              <a:gd name="adj" fmla="val 96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Démon : rootless, socket protégé</a:t>
            </a:r>
            <a:endParaRPr lang="en-US" sz="1400" dirty="0"/>
          </a:p>
        </p:txBody>
      </p:sp>
      <p:sp>
        <p:nvSpPr>
          <p:cNvPr id="8" name="Bloc Image : minimale, sc"/>
          <p:cNvSpPr/>
          <p:nvPr/>
        </p:nvSpPr>
        <p:spPr>
          <a:xfrm>
            <a:off x="1097280" y="2551176"/>
            <a:ext cx="694944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255117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 : minimale, scannée, signée</a:t>
            </a:r>
            <a:endParaRPr lang="en-US" sz="1400" dirty="0"/>
          </a:p>
        </p:txBody>
      </p:sp>
      <p:sp>
        <p:nvSpPr>
          <p:cNvPr id="10" name="Bloc Runtime : non-root, "/>
          <p:cNvSpPr/>
          <p:nvPr/>
        </p:nvSpPr>
        <p:spPr>
          <a:xfrm>
            <a:off x="1417320" y="3209544"/>
            <a:ext cx="6309360" cy="566928"/>
          </a:xfrm>
          <a:prstGeom prst="roundRect">
            <a:avLst>
              <a:gd name="adj" fmla="val 96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320954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Runtime : non-root, capabilities, seccomp, FS RO</a:t>
            </a:r>
            <a:endParaRPr lang="en-US" sz="1400" dirty="0"/>
          </a:p>
        </p:txBody>
      </p:sp>
      <p:sp>
        <p:nvSpPr>
          <p:cNvPr id="12" name="Bloc Réseau segmenté · Se"/>
          <p:cNvSpPr/>
          <p:nvPr/>
        </p:nvSpPr>
        <p:spPr>
          <a:xfrm>
            <a:off x="1737360" y="3867912"/>
            <a:ext cx="5669280" cy="566928"/>
          </a:xfrm>
          <a:prstGeom prst="roundRect">
            <a:avLst>
              <a:gd name="adj" fmla="val 967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83080" y="38679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Réseau segmenté · Secrets hors image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deux erreurs qui coûtent cher</a:t>
            </a:r>
            <a:endParaRPr lang="en-US" sz="3000" dirty="0"/>
          </a:p>
        </p:txBody>
      </p:sp>
      <p:sp>
        <p:nvSpPr>
          <p:cNvPr id="4" name="Carte docker.sock monté"/>
          <p:cNvSpPr/>
          <p:nvPr/>
        </p:nvSpPr>
        <p:spPr>
          <a:xfrm>
            <a:off x="45720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SkullCrossbones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ône FaSkullCrossbones" descr="Icône FaSkullCrossb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docker.sock monté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conteneur contrôle le démon : il peut lancer un conteneur qui monte / de l'hôte. Équivaut à root sur l'hôte.</a:t>
            </a:r>
            <a:endParaRPr lang="en-US" sz="1500" dirty="0"/>
          </a:p>
        </p:txBody>
      </p:sp>
      <p:sp>
        <p:nvSpPr>
          <p:cNvPr id="9" name="Carte --privileged"/>
          <p:cNvSpPr/>
          <p:nvPr/>
        </p:nvSpPr>
        <p:spPr>
          <a:xfrm>
            <a:off x="470916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Unlock"/>
          <p:cNvSpPr/>
          <p:nvPr/>
        </p:nvSpPr>
        <p:spPr>
          <a:xfrm>
            <a:off x="489204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cône FaUnlock" descr="Icône FaUn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58968" y="13258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--privileged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92040" y="193852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Presque toutes les protections désactivées et périphériques de l'hôte exposés. À proscrire.</a:t>
            </a:r>
            <a:endParaRPr lang="en-US" sz="1500" dirty="0"/>
          </a:p>
        </p:txBody>
      </p:sp>
      <p:sp>
        <p:nvSpPr>
          <p:cNvPr id="14" name="Encadré Attention"/>
          <p:cNvSpPr/>
          <p:nvPr/>
        </p:nvSpPr>
        <p:spPr>
          <a:xfrm>
            <a:off x="457200" y="3474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tille encadré FaExclamationTriangle"/>
          <p:cNvSpPr/>
          <p:nvPr/>
        </p:nvSpPr>
        <p:spPr>
          <a:xfrm>
            <a:off x="594360" y="36576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cône FaExclamationTriangle" descr="Icône 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3738067"/>
            <a:ext cx="204826" cy="204826"/>
          </a:xfrm>
          <a:prstGeom prst="rect">
            <a:avLst/>
          </a:prstGeom>
        </p:spPr>
      </p:pic>
      <p:sp>
        <p:nvSpPr>
          <p:cNvPr id="17" name="Texte encadré"/>
          <p:cNvSpPr txBox="1"/>
          <p:nvPr/>
        </p:nvSpPr>
        <p:spPr>
          <a:xfrm>
            <a:off x="1097280" y="34747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jamais exposer l'API TCP 2375 sans TLS mutuel ; accès distant par SSH.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Durcir à l'exécution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484632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durcissement"/>
          <p:cNvSpPr txBox="1"/>
          <p:nvPr/>
        </p:nvSpPr>
        <p:spPr>
          <a:xfrm>
            <a:off x="621792" y="1316736"/>
            <a:ext cx="451713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secure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--user 10001:10001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--read-only --tmpfs /tmp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--cap-drop ALL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--security-opt no-new-privileges:true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--pids-limit 100 --memory 128m --cpus 0.5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127.0.0.1:8080:8080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nginxinc/nginx-unprivileged:1.27-alpine</a:t>
            </a:r>
            <a:endParaRPr lang="en-US" sz="1100" dirty="0"/>
          </a:p>
        </p:txBody>
      </p:sp>
      <p:graphicFrame>
        <p:nvGraphicFramePr>
          <p:cNvPr id="7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88720"/>
          <a:ext cx="3200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Mécanisme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Effet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--user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pas de root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--read-only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FS non modifiable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--cap-drop 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aucune capability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no-new-privileges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pas d'élévation setuid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--pids-limit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anti fork-bomb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Encadré À reteni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tille encadré FaCheckCircle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4098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406908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vérifié en session : uid 101, « Read-only file system », CapDrop=[ALL].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Sécuriser la chaîne d'approvisionnement</a:t>
            </a:r>
            <a:endParaRPr lang="en-US" sz="3000" dirty="0"/>
          </a:p>
        </p:txBody>
      </p:sp>
      <p:sp>
        <p:nvSpPr>
          <p:cNvPr id="4" name="Étape Image minimale"/>
          <p:cNvSpPr/>
          <p:nvPr/>
        </p:nvSpPr>
        <p:spPr>
          <a:xfrm>
            <a:off x="457200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Image minimale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distroless, slim, digest figé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850746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Scan Trivy"/>
          <p:cNvSpPr/>
          <p:nvPr/>
        </p:nvSpPr>
        <p:spPr>
          <a:xfrm>
            <a:off x="2179930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225650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Scan Trivy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134210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CRITICAL/HIGH bloquants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3573475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SBOM + provenance"/>
          <p:cNvSpPr/>
          <p:nvPr/>
        </p:nvSpPr>
        <p:spPr>
          <a:xfrm>
            <a:off x="3902659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948379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SBOM + provenance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856939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inventaire des composants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5296205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Signature cosign"/>
          <p:cNvSpPr/>
          <p:nvPr/>
        </p:nvSpPr>
        <p:spPr>
          <a:xfrm>
            <a:off x="5625389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71109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Signature cosign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79669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keyless via OIDC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7018934" y="16642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Vérification"/>
          <p:cNvSpPr/>
          <p:nvPr/>
        </p:nvSpPr>
        <p:spPr>
          <a:xfrm>
            <a:off x="7348118" y="1371600"/>
            <a:ext cx="1338682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93838" y="1371600"/>
            <a:ext cx="12472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Vérification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02398" y="2267712"/>
            <a:ext cx="1430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cosign verify avant déploiement</a:t>
            </a:r>
            <a:endParaRPr lang="en-US" sz="1200" dirty="0"/>
          </a:p>
        </p:txBody>
      </p:sp>
      <p:sp>
        <p:nvSpPr>
          <p:cNvPr id="23" name="Fond du code"/>
          <p:cNvSpPr/>
          <p:nvPr/>
        </p:nvSpPr>
        <p:spPr>
          <a:xfrm>
            <a:off x="457200" y="338328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Code scan"/>
          <p:cNvSpPr txBox="1"/>
          <p:nvPr/>
        </p:nvSpPr>
        <p:spPr>
          <a:xfrm>
            <a:off x="621792" y="351129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--severity HIGH,CRITICAL --ignore-unfixed monimage:1.0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--scanners secret monimage:1.0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cosign verify --certificate-identity-regexp '...' IMAGE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Gérer les secrets</a:t>
            </a:r>
            <a:endParaRPr lang="en-US" sz="3000" dirty="0"/>
          </a:p>
        </p:txBody>
      </p:sp>
      <p:graphicFrame>
        <p:nvGraphicFramePr>
          <p:cNvPr id="7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Dans l'image ou le Dockerfile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❌ jamais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Variable d'environnement (-e)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⚠️ visible via inspect et /proc/&lt;pid&gt;/environ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Fichier monté (secrets: → /run/secrets)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✅ correct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Gestionnaire externe (Vault, SOPS, cloud)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✅✅ rotation et audit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Labo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astille encadré FaFlask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87522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56616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labo 11.4 : retrouver un secret dans une image avec history, save et Trivy, puis corriger avec --mount=type=secret.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12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Observabilité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Logs, métriques, santé et alertes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trois piliers</a:t>
            </a:r>
            <a:endParaRPr lang="en-US" sz="3000" dirty="0"/>
          </a:p>
        </p:txBody>
      </p:sp>
      <p:sp>
        <p:nvSpPr>
          <p:cNvPr id="4" name="Carte Logs"/>
          <p:cNvSpPr/>
          <p:nvPr/>
        </p:nvSpPr>
        <p:spPr>
          <a:xfrm>
            <a:off x="4572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FileAlt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FileAlt" descr="Icône 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Logs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s'est-il passé ? docker logs, Loki, ELK, Fluent Bit.</a:t>
            </a:r>
            <a:endParaRPr lang="en-US" sz="1400" dirty="0"/>
          </a:p>
        </p:txBody>
      </p:sp>
      <p:sp>
        <p:nvSpPr>
          <p:cNvPr id="9" name="Carte Métriques"/>
          <p:cNvSpPr/>
          <p:nvPr/>
        </p:nvSpPr>
        <p:spPr>
          <a:xfrm>
            <a:off x="32766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ChartLine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FaChartLine" descr="Icône 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Métriques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Quel est l'état ? cAdvisor, Prometheus, Grafana.</a:t>
            </a:r>
            <a:endParaRPr lang="en-US" sz="1400" dirty="0"/>
          </a:p>
        </p:txBody>
      </p:sp>
      <p:sp>
        <p:nvSpPr>
          <p:cNvPr id="14" name="Carte Traces"/>
          <p:cNvSpPr/>
          <p:nvPr/>
        </p:nvSpPr>
        <p:spPr>
          <a:xfrm>
            <a:off x="6096000" y="1188720"/>
            <a:ext cx="259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ProjectDiagram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ProjectDiagram" descr="Icône 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Traces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Où est le temps ? OpenTelemetry, Jaeger, Tempo.</a:t>
            </a:r>
            <a:endParaRPr lang="en-US" sz="1400" dirty="0"/>
          </a:p>
        </p:txBody>
      </p:sp>
      <p:sp>
        <p:nvSpPr>
          <p:cNvPr id="19" name="Encadré À retenir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astille encadré FaCheckCircle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ône FaCheckCircle" descr="Icône 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78378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5661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ajouter les healthchecks pour l'état et docker events pour le cycle de vie.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Healthchecks : liveness et readiness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02920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healthcheck"/>
          <p:cNvSpPr txBox="1"/>
          <p:nvPr/>
        </p:nvSpPr>
        <p:spPr>
          <a:xfrm>
            <a:off x="621792" y="1316736"/>
            <a:ext cx="470001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["CMD", "curl", "-f", "localhost:8080/ready"]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interval: 30s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start_period: 20s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délai de grâce au démarrage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retries: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-f '{{json .State.Health}}' nom | jq</a:t>
            </a:r>
            <a:endParaRPr lang="en-US" sz="1100" dirty="0"/>
          </a:p>
        </p:txBody>
      </p:sp>
      <p:sp>
        <p:nvSpPr>
          <p:cNvPr id="6" name="Carte /live"/>
          <p:cNvSpPr/>
          <p:nvPr/>
        </p:nvSpPr>
        <p:spPr>
          <a:xfrm>
            <a:off x="5669280" y="1188720"/>
            <a:ext cx="30175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Heartbeat"/>
          <p:cNvSpPr/>
          <p:nvPr/>
        </p:nvSpPr>
        <p:spPr>
          <a:xfrm>
            <a:off x="585216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ône FaHeartbeat" descr="Icône 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1453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9088" y="13258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/live</a:t>
            </a:r>
            <a:endParaRPr lang="en-US" sz="1500" dirty="0"/>
          </a:p>
        </p:txBody>
      </p:sp>
      <p:sp>
        <p:nvSpPr>
          <p:cNvPr id="10" name="Texte carte"/>
          <p:cNvSpPr txBox="1"/>
          <p:nvPr/>
        </p:nvSpPr>
        <p:spPr>
          <a:xfrm>
            <a:off x="5852160" y="19385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processus répond.</a:t>
            </a:r>
            <a:endParaRPr lang="en-US" sz="1300" dirty="0"/>
          </a:p>
        </p:txBody>
      </p:sp>
      <p:sp>
        <p:nvSpPr>
          <p:cNvPr id="11" name="Carte /ready"/>
          <p:cNvSpPr/>
          <p:nvPr/>
        </p:nvSpPr>
        <p:spPr>
          <a:xfrm>
            <a:off x="5669280" y="2468880"/>
            <a:ext cx="30175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CheckCircle"/>
          <p:cNvSpPr/>
          <p:nvPr/>
        </p:nvSpPr>
        <p:spPr>
          <a:xfrm>
            <a:off x="5852160" y="2633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ône FaCheckCircle" descr="Icône 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7340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19088" y="26060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/ready</a:t>
            </a:r>
            <a:endParaRPr lang="en-US" sz="1500" dirty="0"/>
          </a:p>
        </p:txBody>
      </p:sp>
      <p:sp>
        <p:nvSpPr>
          <p:cNvPr id="15" name="Texte carte"/>
          <p:cNvSpPr txBox="1"/>
          <p:nvPr/>
        </p:nvSpPr>
        <p:spPr>
          <a:xfrm>
            <a:off x="5852160" y="32186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et cache joignables.</a:t>
            </a:r>
            <a:endParaRPr lang="en-US" sz="1300" dirty="0"/>
          </a:p>
        </p:txBody>
      </p:sp>
      <p:sp>
        <p:nvSpPr>
          <p:cNvPr id="16" name="Encadré Astuc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Pastille encadré FaLightbulb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ône FaLightbulb" descr="Icône 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410382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1097280" y="384048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mesuré dans le projet final : base arrêtée, /health répond 503 ; redémarrée, retour à healthy.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Stack Prometheus, Grafana et Loki</a:t>
            </a:r>
            <a:endParaRPr lang="en-US" sz="3000" dirty="0"/>
          </a:p>
        </p:txBody>
      </p:sp>
      <p:sp>
        <p:nvSpPr>
          <p:cNvPr id="4" name="Bloc Conteneurs"/>
          <p:cNvSpPr/>
          <p:nvPr/>
        </p:nvSpPr>
        <p:spPr>
          <a:xfrm>
            <a:off x="457200" y="1371600"/>
            <a:ext cx="164592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Conteneurs</a:t>
            </a:r>
            <a:endParaRPr lang="en-US" sz="1400" dirty="0"/>
          </a:p>
        </p:txBody>
      </p:sp>
      <p:sp>
        <p:nvSpPr>
          <p:cNvPr id="6" name="Bloc cAdvisor"/>
          <p:cNvSpPr/>
          <p:nvPr/>
        </p:nvSpPr>
        <p:spPr>
          <a:xfrm>
            <a:off x="2651760" y="10972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9748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cAdvisor</a:t>
            </a:r>
            <a:endParaRPr lang="en-US" sz="1400" dirty="0"/>
          </a:p>
        </p:txBody>
      </p:sp>
      <p:sp>
        <p:nvSpPr>
          <p:cNvPr id="8" name="Bloc Promtail"/>
          <p:cNvSpPr/>
          <p:nvPr/>
        </p:nvSpPr>
        <p:spPr>
          <a:xfrm>
            <a:off x="2651760" y="20116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Promtail</a:t>
            </a:r>
            <a:endParaRPr lang="en-US" sz="1400" dirty="0"/>
          </a:p>
        </p:txBody>
      </p:sp>
      <p:sp>
        <p:nvSpPr>
          <p:cNvPr id="10" name="Bloc Prometheus"/>
          <p:cNvSpPr/>
          <p:nvPr/>
        </p:nvSpPr>
        <p:spPr>
          <a:xfrm>
            <a:off x="4846320" y="10972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097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2" name="Bloc Loki"/>
          <p:cNvSpPr/>
          <p:nvPr/>
        </p:nvSpPr>
        <p:spPr>
          <a:xfrm>
            <a:off x="4846320" y="20116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Loki</a:t>
            </a:r>
            <a:endParaRPr lang="en-US" sz="1400" dirty="0"/>
          </a:p>
        </p:txBody>
      </p:sp>
      <p:sp>
        <p:nvSpPr>
          <p:cNvPr id="14" name="Bloc Grafana"/>
          <p:cNvSpPr/>
          <p:nvPr/>
        </p:nvSpPr>
        <p:spPr>
          <a:xfrm>
            <a:off x="7040880" y="1554480"/>
            <a:ext cx="1645920" cy="73152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8660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148840" y="132588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48840" y="224028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3400" y="123444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3400" y="214884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60020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2057400"/>
            <a:ext cx="457200" cy="1828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Fond du code"/>
          <p:cNvSpPr/>
          <p:nvPr/>
        </p:nvSpPr>
        <p:spPr>
          <a:xfrm>
            <a:off x="457200" y="3017520"/>
            <a:ext cx="8229600" cy="790956"/>
          </a:xfrm>
          <a:prstGeom prst="roundRect">
            <a:avLst>
              <a:gd name="adj" fmla="val 69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Code requêtes"/>
          <p:cNvSpPr txBox="1"/>
          <p:nvPr/>
        </p:nvSpPr>
        <p:spPr>
          <a:xfrm>
            <a:off x="621792" y="3145536"/>
            <a:ext cx="790041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rate(container_cpu_usage_seconds_total{name!=""}[1m])</a:t>
            </a:r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CPU par conteneur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container_memory_working_set_bytes{name="demo-web"}</a:t>
            </a:r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mémoire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{service="web"} |= "error"</a:t>
            </a:r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# LogQL (Loki)</a:t>
            </a:r>
            <a:endParaRPr lang="en-US" sz="1050" dirty="0"/>
          </a:p>
        </p:txBody>
      </p:sp>
      <p:sp>
        <p:nvSpPr>
          <p:cNvPr id="24" name="Encadré Labo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Pastille encadré FaFlask"/>
          <p:cNvSpPr/>
          <p:nvPr/>
        </p:nvSpPr>
        <p:spPr>
          <a:xfrm>
            <a:off x="594360" y="41376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ône FaFlask" descr="Icône Fa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18127"/>
            <a:ext cx="204826" cy="204826"/>
          </a:xfrm>
          <a:prstGeom prst="rect">
            <a:avLst/>
          </a:prstGeom>
        </p:spPr>
      </p:pic>
      <p:sp>
        <p:nvSpPr>
          <p:cNvPr id="27" name="Texte encadré"/>
          <p:cNvSpPr txBox="1"/>
          <p:nvPr/>
        </p:nvSpPr>
        <p:spPr>
          <a:xfrm>
            <a:off x="1097280" y="402336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modules/12-observabilite/monitoring : docker compose up -d, puis Grafana sur 127.0.0.1:3000.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 faut-il surveiller</a:t>
            </a:r>
            <a:endParaRPr lang="en-US" sz="3000" dirty="0"/>
          </a:p>
        </p:txBody>
      </p:sp>
      <p:graphicFrame>
        <p:nvGraphicFramePr>
          <p:cNvPr id="8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Exemple d'alerte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Santé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conteneurs unhealthy, redémarrages répétés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Mémoire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usage &gt; 90 % de la limite pendant 5 min, événement oom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throttling élevé même sans saturation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Disque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/var/lib/docker, logs sans rotation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taux d'erreurs, latence p95 (méthode RED)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Orchestration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Docker Swarm puis passage à Kubernetes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Pourquoi orchestrer</a:t>
            </a:r>
            <a:endParaRPr lang="en-US" sz="3000" dirty="0"/>
          </a:p>
        </p:txBody>
      </p:sp>
      <p:sp>
        <p:nvSpPr>
          <p:cNvPr id="4" name="Carte Plusieurs hôtes"/>
          <p:cNvSpPr/>
          <p:nvPr/>
        </p:nvSpPr>
        <p:spPr>
          <a:xfrm>
            <a:off x="457200" y="118872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Server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rver" descr="Icône 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Plusieurs hôtes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1554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Capacité et tolérance aux pannes.</a:t>
            </a:r>
            <a:endParaRPr lang="en-US" sz="1300" dirty="0"/>
          </a:p>
        </p:txBody>
      </p:sp>
      <p:sp>
        <p:nvSpPr>
          <p:cNvPr id="9" name="Carte Auto-guérison"/>
          <p:cNvSpPr/>
          <p:nvPr/>
        </p:nvSpPr>
        <p:spPr>
          <a:xfrm>
            <a:off x="2560320" y="118872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SyncAlt"/>
          <p:cNvSpPr/>
          <p:nvPr/>
        </p:nvSpPr>
        <p:spPr>
          <a:xfrm>
            <a:off x="274320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FaSyncAlt" descr="Icône 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10128" y="13258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Auto-guérison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2743200" y="1938528"/>
            <a:ext cx="1554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Redémarrer et replanifier les conteneurs défaillants.</a:t>
            </a:r>
            <a:endParaRPr lang="en-US" sz="1300" dirty="0"/>
          </a:p>
        </p:txBody>
      </p:sp>
      <p:sp>
        <p:nvSpPr>
          <p:cNvPr id="14" name="Carte Mise à l'échelle"/>
          <p:cNvSpPr/>
          <p:nvPr/>
        </p:nvSpPr>
        <p:spPr>
          <a:xfrm>
            <a:off x="4663440" y="118872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ExpandArrowsAlt"/>
          <p:cNvSpPr/>
          <p:nvPr/>
        </p:nvSpPr>
        <p:spPr>
          <a:xfrm>
            <a:off x="484632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ône FaExpandArrowsAlt" descr="Icône FaExpandArrows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13248" y="13258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Mise à l'échelle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4846320" y="1938528"/>
            <a:ext cx="1554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Plus de réplicas, répartition de charge.</a:t>
            </a:r>
            <a:endParaRPr lang="en-US" sz="1300" dirty="0"/>
          </a:p>
        </p:txBody>
      </p:sp>
      <p:sp>
        <p:nvSpPr>
          <p:cNvPr id="19" name="Carte Mises à jour"/>
          <p:cNvSpPr/>
          <p:nvPr/>
        </p:nvSpPr>
        <p:spPr>
          <a:xfrm>
            <a:off x="6766560" y="118872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Pastille FaCodeBranch"/>
          <p:cNvSpPr/>
          <p:nvPr/>
        </p:nvSpPr>
        <p:spPr>
          <a:xfrm>
            <a:off x="694944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ône FaCodeBranch" descr="Icône FaCodeBra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45389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16368" y="13258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Mises à jour</a:t>
            </a:r>
            <a:endParaRPr lang="en-US" sz="1600" dirty="0"/>
          </a:p>
        </p:txBody>
      </p:sp>
      <p:sp>
        <p:nvSpPr>
          <p:cNvPr id="23" name="Texte carte"/>
          <p:cNvSpPr txBox="1"/>
          <p:nvPr/>
        </p:nvSpPr>
        <p:spPr>
          <a:xfrm>
            <a:off x="6949440" y="1938528"/>
            <a:ext cx="1554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Progressives, avec rollback.</a:t>
            </a:r>
            <a:endParaRPr lang="en-US" sz="1300" dirty="0"/>
          </a:p>
        </p:txBody>
      </p:sp>
      <p:sp>
        <p:nvSpPr>
          <p:cNvPr id="24" name="Encadré À retenir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astille encadré FaCheckCircle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Circle" descr="Icône 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" y="3875227"/>
            <a:ext cx="204826" cy="204826"/>
          </a:xfrm>
          <a:prstGeom prst="rect">
            <a:avLst/>
          </a:prstGeom>
        </p:spPr>
      </p:pic>
      <p:sp>
        <p:nvSpPr>
          <p:cNvPr id="27" name="Texte encadré"/>
          <p:cNvSpPr txBox="1"/>
          <p:nvPr/>
        </p:nvSpPr>
        <p:spPr>
          <a:xfrm>
            <a:off x="1097280" y="365760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Compose gère un hôte ; au-delà, on a besoin d'un orchestrateur.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Docker Swarm en pratique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02920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swarm"/>
          <p:cNvSpPr txBox="1"/>
          <p:nvPr/>
        </p:nvSpPr>
        <p:spPr>
          <a:xfrm>
            <a:off x="621792" y="1316736"/>
            <a:ext cx="470001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swarm init --advertise-addr &lt;IP&gt;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service create --name web --replicas 3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8080:80 nginx:1.27-alpine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service scale web=5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service update --image nginx:1.27.2-alpine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--update-parallelism 1 --update-delay 10s web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service rollback web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stack deploy -c stack.yaml demo</a:t>
            </a:r>
            <a:endParaRPr lang="en-US" sz="1100" dirty="0"/>
          </a:p>
        </p:txBody>
      </p:sp>
      <p:sp>
        <p:nvSpPr>
          <p:cNvPr id="6" name="Liste à puces"/>
          <p:cNvSpPr txBox="1"/>
          <p:nvPr/>
        </p:nvSpPr>
        <p:spPr>
          <a:xfrm>
            <a:off x="5669280" y="1280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Manager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état du cluster (Raft).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Worker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exécute les tâches.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Service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état désiré ; tâche = instance.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Ports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2377, 7946, 4789.</a:t>
            </a:r>
            <a:endParaRPr lang="en-US" sz="1400" dirty="0"/>
          </a:p>
        </p:txBody>
      </p:sp>
      <p:sp>
        <p:nvSpPr>
          <p:cNvPr id="7" name="Encadré Astuce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astille encadré FaLightbulb"/>
          <p:cNvSpPr/>
          <p:nvPr/>
        </p:nvSpPr>
        <p:spPr>
          <a:xfrm>
            <a:off x="594360" y="41376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ône FaLightbulb" descr="Icône 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218127"/>
            <a:ext cx="204826" cy="204826"/>
          </a:xfrm>
          <a:prstGeom prst="rect">
            <a:avLst/>
          </a:prstGeom>
        </p:spPr>
      </p:pic>
      <p:sp>
        <p:nvSpPr>
          <p:cNvPr id="10" name="Texte encadré"/>
          <p:cNvSpPr txBox="1"/>
          <p:nvPr/>
        </p:nvSpPr>
        <p:spPr>
          <a:xfrm>
            <a:off x="1097280" y="402336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update_config.order: start-first donne des mises à jour sans interruption si le healthcheck est bon.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 Docker vers Kubernetes</a:t>
            </a:r>
            <a:endParaRPr lang="en-US" sz="3000" dirty="0"/>
          </a:p>
        </p:txBody>
      </p:sp>
      <p:graphicFrame>
        <p:nvGraphicFramePr>
          <p:cNvPr id="8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Docker / Swarm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Kubernetes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Conteneur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Container dans un Pod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 Swarm (replicas)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Deployment (+ ReplicaSet)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Port publié, routing mesh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 + Ingress / Gateway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PersistentVolumeClaim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Secrets, configs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Secret, ConfigMap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HEALTHCHECK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liveness, readiness, startup probes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même service sur Kubernetes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43000"/>
            <a:ext cx="8229600" cy="3358896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Deployment"/>
          <p:cNvSpPr txBox="1"/>
          <p:nvPr/>
        </p:nvSpPr>
        <p:spPr>
          <a:xfrm>
            <a:off x="621792" y="1271016"/>
            <a:ext cx="7900416" cy="3102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web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 { type: RollingUpdate,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rollingUpdate: { maxSurge: 1, maxUnavailable: 0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{ matchLabels: { app: web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{ labels: { app: web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securityContext: { runAsNonRoot: true, runAsUser: 101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web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nginxinc/nginx-unprivileged:1.27-alpine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resources: { requests: { cpu: 100m, memory: 64Mi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limits:   { cpu: 250m, memory: 128Mi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readinessProbe: { httpGet: { path: /, port: 8080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securityContext: { readOnlyRootFilesystem: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capabilities: { drop: [ALL] }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Quelle plateforme choisir</a:t>
            </a:r>
            <a:endParaRPr lang="en-US" sz="3000" dirty="0"/>
          </a:p>
        </p:txBody>
      </p:sp>
      <p:graphicFrame>
        <p:nvGraphicFramePr>
          <p:cNvPr id="8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Contexte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Choix raisonnable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Petit projet, 1 à 2 développeurs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Compose sur une VM, Cloud Run, Fly.io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Quelques nœuds, besoins simples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Swarm (en connaissance de la pérennité)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PME, 15 services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Kubernetes managé ou ECS Fargate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Grande entreprise, multi-équipes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Kubernetes managé + plateforme interne (GitOps)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ncadré À retenir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 encadré FaCheckCircle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3875227"/>
            <a:ext cx="204826" cy="204826"/>
          </a:xfrm>
          <a:prstGeom prst="rect">
            <a:avLst/>
          </a:prstGeom>
        </p:spPr>
      </p:pic>
      <p:sp>
        <p:nvSpPr>
          <p:cNvPr id="8" name="Texte encadré"/>
          <p:cNvSpPr txBox="1"/>
          <p:nvPr/>
        </p:nvSpPr>
        <p:spPr>
          <a:xfrm>
            <a:off x="1097280" y="356616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conteneurs sans état, config par l'environnement, logs sur stdout, arrêt propre : les bases des 12 facteurs.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14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Expert : internals et dépannage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runc, namespaces, cgroups, overlayfs, troubleshooting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pile d'exécution en détail</a:t>
            </a:r>
            <a:endParaRPr lang="en-US" sz="3000" dirty="0"/>
          </a:p>
        </p:txBody>
      </p:sp>
      <p:sp>
        <p:nvSpPr>
          <p:cNvPr id="4" name="Étape docker CLI"/>
          <p:cNvSpPr/>
          <p:nvPr/>
        </p:nvSpPr>
        <p:spPr>
          <a:xfrm>
            <a:off x="457200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 CLI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HTTP/socket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563624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dockerd"/>
          <p:cNvSpPr/>
          <p:nvPr/>
        </p:nvSpPr>
        <p:spPr>
          <a:xfrm>
            <a:off x="1892808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938528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47088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API, réseau, build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2999232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containerd"/>
          <p:cNvSpPr/>
          <p:nvPr/>
        </p:nvSpPr>
        <p:spPr>
          <a:xfrm>
            <a:off x="3328416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74136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containerd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82696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images, snapshots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4434840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shim"/>
          <p:cNvSpPr/>
          <p:nvPr/>
        </p:nvSpPr>
        <p:spPr>
          <a:xfrm>
            <a:off x="4764024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09744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shim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survit au démon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5870448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runc"/>
          <p:cNvSpPr/>
          <p:nvPr/>
        </p:nvSpPr>
        <p:spPr>
          <a:xfrm>
            <a:off x="6199632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45352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runc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53912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namespaces + cgroups</a:t>
            </a:r>
            <a:endParaRPr lang="en-US" sz="1200" dirty="0"/>
          </a:p>
        </p:txBody>
      </p:sp>
      <p:sp>
        <p:nvSpPr>
          <p:cNvPr id="23" name="Flèche"/>
          <p:cNvSpPr/>
          <p:nvPr/>
        </p:nvSpPr>
        <p:spPr>
          <a:xfrm>
            <a:off x="7306056" y="161848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Étape processus"/>
          <p:cNvSpPr/>
          <p:nvPr/>
        </p:nvSpPr>
        <p:spPr>
          <a:xfrm>
            <a:off x="7635240" y="13716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680960" y="1371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processus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17627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votre appli</a:t>
            </a:r>
            <a:endParaRPr lang="en-US" sz="1200" dirty="0"/>
          </a:p>
        </p:txBody>
      </p:sp>
      <p:sp>
        <p:nvSpPr>
          <p:cNvPr id="27" name="Fond du code"/>
          <p:cNvSpPr/>
          <p:nvPr/>
        </p:nvSpPr>
        <p:spPr>
          <a:xfrm>
            <a:off x="457200" y="3291840"/>
            <a:ext cx="8229600" cy="981456"/>
          </a:xfrm>
          <a:prstGeom prst="roundRect">
            <a:avLst>
              <a:gd name="adj" fmla="val 55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Code runc"/>
          <p:cNvSpPr txBox="1"/>
          <p:nvPr/>
        </p:nvSpPr>
        <p:spPr>
          <a:xfrm>
            <a:off x="621792" y="3419856"/>
            <a:ext cx="790041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x alpine sleep 300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-ef --forest | grep -B2 -A3 'sleep 300'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runc --root /run/docker/runtime-runc/moby list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jq '.linux.namespaces' /run/containerd/.../moby/&lt;ID&gt;/config.json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Namespaces et cgroups v2</a:t>
            </a:r>
            <a:endParaRPr lang="en-US" sz="3000" dirty="0"/>
          </a:p>
        </p:txBody>
      </p:sp>
      <p:graphicFrame>
        <p:nvGraphicFramePr>
          <p:cNvPr id="8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Namespace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Isole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mnt · pid · net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montages · PID · réseau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ipc · uts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IPC · hostname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user · cgroup ·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UID · hiérarchie · horloges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Fichier cgroup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memory.max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limite mémoire dure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cpu.max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quota (50000 100000 = 0,5 CPU)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cpu.stat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nr_throttled : bridage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pids.max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nombre de processus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ond du code"/>
          <p:cNvSpPr/>
          <p:nvPr/>
        </p:nvSpPr>
        <p:spPr>
          <a:xfrm>
            <a:off x="457200" y="320040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ode nsenter"/>
          <p:cNvSpPr txBox="1"/>
          <p:nvPr/>
        </p:nvSpPr>
        <p:spPr>
          <a:xfrm>
            <a:off x="621792" y="332841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PID=$(docker inspect -f '{{.State.Pid}}' mon-conteneur)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nsenter -t $PID -n ss -tlnp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réseau du conteneur, outils de l'hôte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lsns -p $PID</a:t>
            </a:r>
            <a:endParaRPr lang="en-US" sz="1100" dirty="0"/>
          </a:p>
        </p:txBody>
      </p:sp>
      <p:sp>
        <p:nvSpPr>
          <p:cNvPr id="8" name="Encadré Attention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5">
              <a:alpha val="14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 encadré FaExclamationTriangle"/>
          <p:cNvSpPr/>
          <p:nvPr/>
        </p:nvSpPr>
        <p:spPr>
          <a:xfrm>
            <a:off x="594360" y="425196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ône FaExclamationTriangle" descr="Icône 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" y="4332427"/>
            <a:ext cx="204826" cy="204826"/>
          </a:xfrm>
          <a:prstGeom prst="rect">
            <a:avLst/>
          </a:prstGeom>
        </p:spPr>
      </p:pic>
      <p:sp>
        <p:nvSpPr>
          <p:cNvPr id="11" name="Texte encadré"/>
          <p:cNvSpPr txBox="1"/>
          <p:nvPr/>
        </p:nvSpPr>
        <p:spPr>
          <a:xfrm>
            <a:off x="1097280" y="420624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Attention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 limites CPU trop basses créent du throttling : surveillez nr_throttled.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OverlayFS et système de fichiers</a:t>
            </a:r>
            <a:endParaRPr lang="en-US" sz="3000" dirty="0"/>
          </a:p>
        </p:txBody>
      </p:sp>
      <p:sp>
        <p:nvSpPr>
          <p:cNvPr id="4" name="Bloc upperdir (RW) : écri"/>
          <p:cNvSpPr/>
          <p:nvPr/>
        </p:nvSpPr>
        <p:spPr>
          <a:xfrm>
            <a:off x="457200" y="1280160"/>
            <a:ext cx="384048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upperdir (RW) : écritures, whiteouts</a:t>
            </a:r>
            <a:endParaRPr lang="en-US" sz="1300" dirty="0"/>
          </a:p>
        </p:txBody>
      </p:sp>
      <p:sp>
        <p:nvSpPr>
          <p:cNvPr id="6" name="Bloc lowerdir (RO) : couc"/>
          <p:cNvSpPr/>
          <p:nvPr/>
        </p:nvSpPr>
        <p:spPr>
          <a:xfrm>
            <a:off x="457200" y="1920240"/>
            <a:ext cx="384048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lowerdir (RO) : couches de l'image</a:t>
            </a:r>
            <a:endParaRPr lang="en-US" sz="1300" dirty="0"/>
          </a:p>
        </p:txBody>
      </p:sp>
      <p:sp>
        <p:nvSpPr>
          <p:cNvPr id="8" name="Bloc merged : ce que voit"/>
          <p:cNvSpPr/>
          <p:nvPr/>
        </p:nvSpPr>
        <p:spPr>
          <a:xfrm>
            <a:off x="457200" y="2651760"/>
            <a:ext cx="3840480" cy="64008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2651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merged : ce que voit le conteneur</a:t>
            </a:r>
            <a:endParaRPr lang="en-US" sz="1400" dirty="0"/>
          </a:p>
        </p:txBody>
      </p:sp>
      <p:sp>
        <p:nvSpPr>
          <p:cNvPr id="10" name="Liste à puces"/>
          <p:cNvSpPr txBox="1"/>
          <p:nvPr/>
        </p:nvSpPr>
        <p:spPr>
          <a:xfrm>
            <a:off x="4572000" y="12801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Lecture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couche la plus haute contenant le fichier.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Écriture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copy-up du fichier entier : coûteux pour les gros fichiers.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Suppression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fichier spécial « whiteout » dans l'upper.</a:t>
            </a:r>
            <a:endParaRPr lang="en-US" sz="1400" dirty="0"/>
          </a:p>
        </p:txBody>
      </p:sp>
      <p:sp>
        <p:nvSpPr>
          <p:cNvPr id="11" name="Fond du code"/>
          <p:cNvSpPr/>
          <p:nvPr/>
        </p:nvSpPr>
        <p:spPr>
          <a:xfrm>
            <a:off x="457200" y="3566160"/>
            <a:ext cx="8229600" cy="646176"/>
          </a:xfrm>
          <a:prstGeom prst="roundRect">
            <a:avLst>
              <a:gd name="adj" fmla="val 84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Code overlay"/>
          <p:cNvSpPr txBox="1"/>
          <p:nvPr/>
        </p:nvSpPr>
        <p:spPr>
          <a:xfrm>
            <a:off x="621792" y="3694176"/>
            <a:ext cx="79004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-f '{{json .GraphDriver.Data}}' x | jq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diff x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A (ajouté), C (modifié), D (supprimé)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Méthodologie de dépannage</a:t>
            </a:r>
            <a:endParaRPr lang="en-US" sz="3000" dirty="0"/>
          </a:p>
        </p:txBody>
      </p:sp>
      <p:sp>
        <p:nvSpPr>
          <p:cNvPr id="4" name="Étape Décrire"/>
          <p:cNvSpPr/>
          <p:nvPr/>
        </p:nvSpPr>
        <p:spPr>
          <a:xfrm>
            <a:off x="457200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Décrire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Quoi, depuis quand ?</a:t>
            </a:r>
            <a:endParaRPr lang="en-US" sz="1200" dirty="0"/>
          </a:p>
        </p:txBody>
      </p:sp>
      <p:sp>
        <p:nvSpPr>
          <p:cNvPr id="7" name="Flèche"/>
          <p:cNvSpPr/>
          <p:nvPr/>
        </p:nvSpPr>
        <p:spPr>
          <a:xfrm>
            <a:off x="1563624" y="15499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Étape État"/>
          <p:cNvSpPr/>
          <p:nvPr/>
        </p:nvSpPr>
        <p:spPr>
          <a:xfrm>
            <a:off x="1892808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938528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État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47088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ps -a, inspect, events</a:t>
            </a:r>
            <a:endParaRPr lang="en-US" sz="1200" dirty="0"/>
          </a:p>
        </p:txBody>
      </p:sp>
      <p:sp>
        <p:nvSpPr>
          <p:cNvPr id="11" name="Flèche"/>
          <p:cNvSpPr/>
          <p:nvPr/>
        </p:nvSpPr>
        <p:spPr>
          <a:xfrm>
            <a:off x="2999232" y="15499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Étape Logs"/>
          <p:cNvSpPr/>
          <p:nvPr/>
        </p:nvSpPr>
        <p:spPr>
          <a:xfrm>
            <a:off x="3328416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74136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Logs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82696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logs, journalctl</a:t>
            </a:r>
            <a:endParaRPr lang="en-US" sz="1200" dirty="0"/>
          </a:p>
        </p:txBody>
      </p:sp>
      <p:sp>
        <p:nvSpPr>
          <p:cNvPr id="15" name="Flèche"/>
          <p:cNvSpPr/>
          <p:nvPr/>
        </p:nvSpPr>
        <p:spPr>
          <a:xfrm>
            <a:off x="4434840" y="15499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Étape Reproduire"/>
          <p:cNvSpPr/>
          <p:nvPr/>
        </p:nvSpPr>
        <p:spPr>
          <a:xfrm>
            <a:off x="4764024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09744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Reproduire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-it --entrypoint sh</a:t>
            </a:r>
            <a:endParaRPr lang="en-US" sz="1200" dirty="0"/>
          </a:p>
        </p:txBody>
      </p:sp>
      <p:sp>
        <p:nvSpPr>
          <p:cNvPr id="19" name="Flèche"/>
          <p:cNvSpPr/>
          <p:nvPr/>
        </p:nvSpPr>
        <p:spPr>
          <a:xfrm>
            <a:off x="5870448" y="15499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Étape Ressources"/>
          <p:cNvSpPr/>
          <p:nvPr/>
        </p:nvSpPr>
        <p:spPr>
          <a:xfrm>
            <a:off x="6199632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45352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Ressources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53912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stats, cgroups, dmesg</a:t>
            </a:r>
            <a:endParaRPr lang="en-US" sz="1200" dirty="0"/>
          </a:p>
        </p:txBody>
      </p:sp>
      <p:sp>
        <p:nvSpPr>
          <p:cNvPr id="23" name="Flèche"/>
          <p:cNvSpPr/>
          <p:nvPr/>
        </p:nvSpPr>
        <p:spPr>
          <a:xfrm>
            <a:off x="7306056" y="1549908"/>
            <a:ext cx="292608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Étape Processus"/>
          <p:cNvSpPr/>
          <p:nvPr/>
        </p:nvSpPr>
        <p:spPr>
          <a:xfrm>
            <a:off x="7635240" y="1325880"/>
            <a:ext cx="105156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680960" y="13258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Processus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0848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strace, lsof, /proc</a:t>
            </a:r>
            <a:endParaRPr lang="en-US" sz="1200" dirty="0"/>
          </a:p>
        </p:txBody>
      </p:sp>
      <p:graphicFrame>
        <p:nvGraphicFramePr>
          <p:cNvPr id="91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Symptôme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Cause fréquente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exec format error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mauvaise architecture ou fins de ligne CRLF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 space left on device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/var/lib/docker plein : logs, images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Exited (137)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OOM ou SIGKILL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Construire un conteneur à la main</a:t>
            </a:r>
            <a:endParaRPr lang="en-US" sz="3000" dirty="0"/>
          </a:p>
        </p:txBody>
      </p:sp>
      <p:sp>
        <p:nvSpPr>
          <p:cNvPr id="4" name="Fond du code"/>
          <p:cNvSpPr/>
          <p:nvPr/>
        </p:nvSpPr>
        <p:spPr>
          <a:xfrm>
            <a:off x="457200" y="1188720"/>
            <a:ext cx="5486400" cy="1652016"/>
          </a:xfrm>
          <a:prstGeom prst="roundRect">
            <a:avLst>
              <a:gd name="adj" fmla="val 33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de mini-docker"/>
          <p:cNvSpPr txBox="1"/>
          <p:nvPr/>
        </p:nvSpPr>
        <p:spPr>
          <a:xfrm>
            <a:off x="621792" y="1316736"/>
            <a:ext cx="5157216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mini-docker.sh : rootfs + unshare + chroot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unshare --pid --fork --mount --uts --ipc --net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bash -c 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$$ &gt; $CG/cgroup.procs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limites mémoire / pids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mount -t proc proc $ROOTFS/proc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hostname mini-conteneur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 chroot $ROOTFS "$@"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_ /bin/sh</a:t>
            </a:r>
            <a:endParaRPr lang="en-US" sz="1100" dirty="0"/>
          </a:p>
        </p:txBody>
      </p:sp>
      <p:sp>
        <p:nvSpPr>
          <p:cNvPr id="6" name="Carte Il a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astille FaCheckCircle"/>
          <p:cNvSpPr/>
          <p:nvPr/>
        </p:nvSpPr>
        <p:spPr>
          <a:xfrm>
            <a:off x="630936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ône FaCheckCircle" descr="Icône 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944" y="1453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76288" y="13258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Il a</a:t>
            </a:r>
            <a:endParaRPr lang="en-US" sz="1400" dirty="0"/>
          </a:p>
        </p:txBody>
      </p:sp>
      <p:sp>
        <p:nvSpPr>
          <p:cNvPr id="10" name="Texte carte"/>
          <p:cNvSpPr txBox="1"/>
          <p:nvPr/>
        </p:nvSpPr>
        <p:spPr>
          <a:xfrm>
            <a:off x="6309360" y="19385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pid, mnt, uts, ipc, net + cgroup.</a:t>
            </a:r>
            <a:endParaRPr lang="en-US" sz="1200" dirty="0"/>
          </a:p>
        </p:txBody>
      </p:sp>
      <p:sp>
        <p:nvSpPr>
          <p:cNvPr id="11" name="Carte Il n'a pas"/>
          <p:cNvSpPr/>
          <p:nvPr/>
        </p:nvSpPr>
        <p:spPr>
          <a:xfrm>
            <a:off x="6126480" y="26517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Pastille FaTimesCircle"/>
          <p:cNvSpPr/>
          <p:nvPr/>
        </p:nvSpPr>
        <p:spPr>
          <a:xfrm>
            <a:off x="6309360" y="28163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Icône FaTimesCircle" descr="Icône FaTimes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91693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76288" y="2788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Il n'a pas</a:t>
            </a:r>
            <a:endParaRPr lang="en-US" sz="1400" dirty="0"/>
          </a:p>
        </p:txBody>
      </p:sp>
      <p:sp>
        <p:nvSpPr>
          <p:cNvPr id="15" name="Texte carte"/>
          <p:cNvSpPr txBox="1"/>
          <p:nvPr/>
        </p:nvSpPr>
        <p:spPr>
          <a:xfrm>
            <a:off x="6309360" y="34015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veth/bridge, overlay, seccomp, userns.</a:t>
            </a:r>
            <a:endParaRPr lang="en-US" sz="1200" dirty="0"/>
          </a:p>
        </p:txBody>
      </p:sp>
      <p:sp>
        <p:nvSpPr>
          <p:cNvPr id="16" name="Encadré Labo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14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Pastille encadré FaFlask"/>
          <p:cNvSpPr/>
          <p:nvPr/>
        </p:nvSpPr>
        <p:spPr>
          <a:xfrm>
            <a:off x="594360" y="3886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ône FaFlask" descr="Icône FaFl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" y="3966667"/>
            <a:ext cx="204826" cy="204826"/>
          </a:xfrm>
          <a:prstGeom prst="rect">
            <a:avLst/>
          </a:prstGeom>
        </p:spPr>
      </p:pic>
      <p:sp>
        <p:nvSpPr>
          <p:cNvPr id="19" name="Texte encadré"/>
          <p:cNvSpPr txBox="1"/>
          <p:nvPr/>
        </p:nvSpPr>
        <p:spPr>
          <a:xfrm>
            <a:off x="1097280" y="374904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à lancer avec sudo sur une machine de formation (cgroups v2).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module"/>
          <p:cNvSpPr txBox="1"/>
          <p:nvPr/>
        </p:nvSpPr>
        <p:spPr>
          <a:xfrm>
            <a:off x="82296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15</a:t>
            </a:r>
            <a:endParaRPr lang="en-US" sz="6000" dirty="0"/>
          </a:p>
        </p:txBody>
      </p:sp>
      <p:sp>
        <p:nvSpPr>
          <p:cNvPr id="3" name="Text 8"/>
          <p:cNvSpPr/>
          <p:nvPr>
            <p:ph idx="108" type="title" hasCustomPrompt="1"/>
          </p:nvPr>
        </p:nvSpPr>
        <p:spPr>
          <a:xfrm>
            <a:off x="82296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Projet final</a:t>
            </a:r>
            <a:endParaRPr lang="en-US" sz="3800" dirty="0"/>
          </a:p>
        </p:txBody>
      </p:sp>
      <p:sp>
        <p:nvSpPr>
          <p:cNvPr id="4" name="Text 8"/>
          <p:cNvSpPr/>
          <p:nvPr>
            <p:ph idx="109" type="body" hasCustomPrompt="1"/>
          </p:nvPr>
        </p:nvSpPr>
        <p:spPr>
          <a:xfrm>
            <a:off x="822960" y="3017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Une application « Todo » de la machine du développeur à la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cible</a:t>
            </a:r>
            <a:endParaRPr lang="en-US" sz="3000" dirty="0"/>
          </a:p>
        </p:txBody>
      </p:sp>
      <p:sp>
        <p:nvSpPr>
          <p:cNvPr id="4" name="Bloc proxy (nginx) FS en "/>
          <p:cNvSpPr/>
          <p:nvPr/>
        </p:nvSpPr>
        <p:spPr>
          <a:xfrm>
            <a:off x="457200" y="173736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proxy (nginx)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FS en lecture seule</a:t>
            </a:r>
            <a:endParaRPr lang="en-US" sz="1300" dirty="0"/>
          </a:p>
        </p:txBody>
      </p:sp>
      <p:sp>
        <p:nvSpPr>
          <p:cNvPr id="6" name="Bloc api (gunicorn/Flask)"/>
          <p:cNvSpPr/>
          <p:nvPr/>
        </p:nvSpPr>
        <p:spPr>
          <a:xfrm>
            <a:off x="3291840" y="173736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3756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 (gunicorn/Flask)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non-root, cap_drop ALL</a:t>
            </a:r>
            <a:endParaRPr lang="en-US" sz="1300" dirty="0"/>
          </a:p>
        </p:txBody>
      </p:sp>
      <p:sp>
        <p:nvSpPr>
          <p:cNvPr id="8" name="Bloc db (PostgreSQL 16) v"/>
          <p:cNvSpPr/>
          <p:nvPr/>
        </p:nvSpPr>
        <p:spPr>
          <a:xfrm>
            <a:off x="6126480" y="1737360"/>
            <a:ext cx="256032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db (PostgreSQL 16)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volume pgdata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2084832"/>
            <a:ext cx="6400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40680" y="2084832"/>
            <a:ext cx="640080" cy="22860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back (internal)</a:t>
            </a:r>
            <a:endParaRPr lang="en-US" sz="1400" dirty="0"/>
          </a:p>
        </p:txBody>
      </p:sp>
      <p:sp>
        <p:nvSpPr>
          <p:cNvPr id="14" name="Fond du code"/>
          <p:cNvSpPr/>
          <p:nvPr/>
        </p:nvSpPr>
        <p:spPr>
          <a:xfrm>
            <a:off x="457200" y="3246120"/>
            <a:ext cx="8229600" cy="813816"/>
          </a:xfrm>
          <a:prstGeom prst="roundRect">
            <a:avLst>
              <a:gd name="adj" fmla="val 6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ode démarrage"/>
          <p:cNvSpPr txBox="1"/>
          <p:nvPr/>
        </p:nvSpPr>
        <p:spPr>
          <a:xfrm>
            <a:off x="621792" y="3374136"/>
            <a:ext cx="7900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modules/15-projet-final/projet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test &amp;&amp; make up &amp;&amp; make smoke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tests, démarrage, test de fumée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Ce qui a été vérifié pour de vrai</a:t>
            </a:r>
            <a:endParaRPr lang="en-US" sz="3000" dirty="0"/>
          </a:p>
        </p:txBody>
      </p:sp>
      <p:sp>
        <p:nvSpPr>
          <p:cNvPr id="4" name="Carte 3 services healthy"/>
          <p:cNvSpPr/>
          <p:nvPr/>
        </p:nvSpPr>
        <p:spPr>
          <a:xfrm>
            <a:off x="457200" y="11887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Heartbeat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ône FaHeartbeat" descr="Icône 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services healthy</a:t>
            </a:r>
            <a:endParaRPr lang="en-US" sz="15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proxy, api et db démarrent avec docker compose up --wait.</a:t>
            </a:r>
            <a:endParaRPr lang="en-US" sz="1300" dirty="0"/>
          </a:p>
        </p:txBody>
      </p:sp>
      <p:sp>
        <p:nvSpPr>
          <p:cNvPr id="9" name="Carte Isolation prouvée"/>
          <p:cNvSpPr/>
          <p:nvPr/>
        </p:nvSpPr>
        <p:spPr>
          <a:xfrm>
            <a:off x="4640580" y="118872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ShieldAlt"/>
          <p:cNvSpPr/>
          <p:nvPr/>
        </p:nvSpPr>
        <p:spPr>
          <a:xfrm>
            <a:off x="482346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 FaShieldAlt" descr="Icône 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0388" y="132588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Isolation prouvée</a:t>
            </a:r>
            <a:endParaRPr lang="en-US" sz="1500" dirty="0"/>
          </a:p>
        </p:txBody>
      </p:sp>
      <p:sp>
        <p:nvSpPr>
          <p:cNvPr id="13" name="Texte carte"/>
          <p:cNvSpPr txBox="1"/>
          <p:nvPr/>
        </p:nvSpPr>
        <p:spPr>
          <a:xfrm>
            <a:off x="4823460" y="193852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db invisible depuis le proxy ; api en uid 10001, FS en lecture seule.</a:t>
            </a:r>
            <a:endParaRPr lang="en-US" sz="1300" dirty="0"/>
          </a:p>
        </p:txBody>
      </p:sp>
      <p:sp>
        <p:nvSpPr>
          <p:cNvPr id="14" name="Carte Persistance"/>
          <p:cNvSpPr/>
          <p:nvPr/>
        </p:nvSpPr>
        <p:spPr>
          <a:xfrm>
            <a:off x="457200" y="26517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Database"/>
          <p:cNvSpPr/>
          <p:nvPr/>
        </p:nvSpPr>
        <p:spPr>
          <a:xfrm>
            <a:off x="640080" y="28163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FaDatabase" descr="Icône 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91693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7008" y="278892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Persistance</a:t>
            </a:r>
            <a:endParaRPr lang="en-US" sz="1500" dirty="0"/>
          </a:p>
        </p:txBody>
      </p:sp>
      <p:sp>
        <p:nvSpPr>
          <p:cNvPr id="18" name="Texte carte"/>
          <p:cNvSpPr txBox="1"/>
          <p:nvPr/>
        </p:nvSpPr>
        <p:spPr>
          <a:xfrm>
            <a:off x="640080" y="340156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tâches survivent à un down puis up.</a:t>
            </a:r>
            <a:endParaRPr lang="en-US" sz="1300" dirty="0"/>
          </a:p>
        </p:txBody>
      </p:sp>
      <p:sp>
        <p:nvSpPr>
          <p:cNvPr id="19" name="Carte Panne gérée"/>
          <p:cNvSpPr/>
          <p:nvPr/>
        </p:nvSpPr>
        <p:spPr>
          <a:xfrm>
            <a:off x="4640580" y="2651760"/>
            <a:ext cx="40462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Pastille FaBug"/>
          <p:cNvSpPr/>
          <p:nvPr/>
        </p:nvSpPr>
        <p:spPr>
          <a:xfrm>
            <a:off x="4823460" y="28163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cône FaBug" descr="Icône FaB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91693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0388" y="2788920"/>
            <a:ext cx="31318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Panne gérée</a:t>
            </a:r>
            <a:endParaRPr lang="en-US" sz="1500" dirty="0"/>
          </a:p>
        </p:txBody>
      </p:sp>
      <p:sp>
        <p:nvSpPr>
          <p:cNvPr id="23" name="Texte carte"/>
          <p:cNvSpPr txBox="1"/>
          <p:nvPr/>
        </p:nvSpPr>
        <p:spPr>
          <a:xfrm>
            <a:off x="4823460" y="3401568"/>
            <a:ext cx="36804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DB arrêtée : /health répond 503, puis retour à healthy.</a:t>
            </a:r>
            <a:endParaRPr lang="en-US" sz="1300" dirty="0"/>
          </a:p>
        </p:txBody>
      </p:sp>
      <p:sp>
        <p:nvSpPr>
          <p:cNvPr id="24" name="Encadré Astuce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14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Pastille encadré FaLightbulb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cône FaLightbulb" descr="Icône Fa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" y="4240987"/>
            <a:ext cx="204826" cy="204826"/>
          </a:xfrm>
          <a:prstGeom prst="rect">
            <a:avLst/>
          </a:prstGeom>
        </p:spPr>
      </p:pic>
      <p:sp>
        <p:nvSpPr>
          <p:cNvPr id="27" name="Texte encadré"/>
          <p:cNvSpPr txBox="1"/>
          <p:nvPr/>
        </p:nvSpPr>
        <p:spPr>
          <a:xfrm>
            <a:off x="1097280" y="402336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Astuce 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test a aussi trouvé un vrai bug (JSON indenté par Flask en debug), corrigé dans smoke-test.sh.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six jalons</a:t>
            </a:r>
            <a:endParaRPr lang="en-US" sz="3000" dirty="0"/>
          </a:p>
        </p:txBody>
      </p:sp>
      <p:graphicFrame>
        <p:nvGraphicFramePr>
          <p:cNvPr id="9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Contenu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Modules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 Image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Multi-stage, taille, labels, cache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05-06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2. Compose et données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Isolation, backup/restore, migration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07-09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 CI/CD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Lint, tests, scan, push GHCR, déploiement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4. Sécurité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Durcissement, secrets, scan propre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5. Observabilité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Logs JSON, /metrics, alerte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6. Échelle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Swarm ou Kubernetes (bonus)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Grille d'évaluation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iffre clé"/>
          <p:cNvSpPr txBox="1"/>
          <p:nvPr/>
        </p:nvSpPr>
        <p:spPr>
          <a:xfrm>
            <a:off x="5852160" y="1188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70/100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585216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seuil de validation</a:t>
            </a:r>
            <a:endParaRPr lang="en-US" sz="1400" dirty="0"/>
          </a:p>
        </p:txBody>
      </p:sp>
      <p:sp>
        <p:nvSpPr>
          <p:cNvPr id="7" name="Chiffre clé"/>
          <p:cNvSpPr txBox="1"/>
          <p:nvPr/>
        </p:nvSpPr>
        <p:spPr>
          <a:xfrm>
            <a:off x="585216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85+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niveau Expert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Votre feuille de route</a:t>
            </a:r>
            <a:endParaRPr lang="en-US" sz="3000" dirty="0"/>
          </a:p>
        </p:txBody>
      </p:sp>
      <p:sp>
        <p:nvSpPr>
          <p:cNvPr id="4" name="Carte Certifications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tille FaCertificat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ertificate" descr="Icône FaCertif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70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Certifications</a:t>
            </a:r>
            <a:endParaRPr lang="en-US" sz="1600" dirty="0"/>
          </a:p>
        </p:txBody>
      </p:sp>
      <p:sp>
        <p:nvSpPr>
          <p:cNvPr id="8" name="Texte carte"/>
          <p:cNvSpPr txBox="1"/>
          <p:nvPr/>
        </p:nvSpPr>
        <p:spPr>
          <a:xfrm>
            <a:off x="6400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DCA pour Docker. CKA et CKAD pour Kubernetes : la suite logique.</a:t>
            </a:r>
            <a:endParaRPr lang="en-US" sz="1400" dirty="0"/>
          </a:p>
        </p:txBody>
      </p:sp>
      <p:sp>
        <p:nvSpPr>
          <p:cNvPr id="9" name="Carte Pour approfondir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astille FaBook"/>
          <p:cNvSpPr/>
          <p:nvPr/>
        </p:nvSpPr>
        <p:spPr>
          <a:xfrm>
            <a:off x="34594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ône FaBook" descr="Icône 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064" y="14538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64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Pour approfondir</a:t>
            </a:r>
            <a:endParaRPr lang="en-US" sz="1600" dirty="0"/>
          </a:p>
        </p:txBody>
      </p:sp>
      <p:sp>
        <p:nvSpPr>
          <p:cNvPr id="13" name="Texte carte"/>
          <p:cNvSpPr txBox="1"/>
          <p:nvPr/>
        </p:nvSpPr>
        <p:spPr>
          <a:xfrm>
            <a:off x="34594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facteurs, CIS Docker Benchmark, Container Security (Liz Rice).</a:t>
            </a:r>
            <a:endParaRPr lang="en-US" sz="1400" dirty="0"/>
          </a:p>
        </p:txBody>
      </p:sp>
      <p:sp>
        <p:nvSpPr>
          <p:cNvPr id="14" name="Carte Pratiquer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astille FaUsers"/>
          <p:cNvSpPr/>
          <p:nvPr/>
        </p:nvSpPr>
        <p:spPr>
          <a:xfrm>
            <a:off x="627888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ône FaUsers" descr="Icône 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4538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45808" y="1325880"/>
            <a:ext cx="167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Pratiquer</a:t>
            </a:r>
            <a:endParaRPr lang="en-US" sz="1600" dirty="0"/>
          </a:p>
        </p:txBody>
      </p:sp>
      <p:sp>
        <p:nvSpPr>
          <p:cNvPr id="18" name="Texte carte"/>
          <p:cNvSpPr txBox="1"/>
          <p:nvPr/>
        </p:nvSpPr>
        <p:spPr>
          <a:xfrm>
            <a:off x="6278880" y="1938528"/>
            <a:ext cx="2225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 with Docker, Killercoda, vos propres projets conteneurisés.</a:t>
            </a:r>
            <a:endParaRPr lang="en-US" sz="1400" dirty="0"/>
          </a:p>
        </p:txBody>
      </p:sp>
      <p:sp>
        <p:nvSpPr>
          <p:cNvPr id="19" name="Encadré À retenir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astille encadré FaCheckCircle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ône FaCheckCircle" descr="Icône 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3875227"/>
            <a:ext cx="204826" cy="204826"/>
          </a:xfrm>
          <a:prstGeom prst="rect">
            <a:avLst/>
          </a:prstGeom>
        </p:spPr>
      </p:pic>
      <p:sp>
        <p:nvSpPr>
          <p:cNvPr id="22" name="Texte encadré"/>
          <p:cNvSpPr txBox="1"/>
          <p:nvPr/>
        </p:nvSpPr>
        <p:spPr>
          <a:xfrm>
            <a:off x="1097280" y="365760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annexes du dépôt : aide-mémoire, glossaire, préparation DCA, ressources.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dix règles à retenir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11247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Pinner les versions d'images, idéalement par digest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17830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processus par conteneur, logs sur stdout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414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Dockerfile : dépendances avant le code, forme exec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" y="309981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Multi-stage et images minimales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" y="37581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Utilisateur non-root, capabilities supprimées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11247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Aucun secret dans l'image ni dans ENV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1847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30368" y="17830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Volumes nommés pour les données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63440" y="2505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634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230368" y="24414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Réseaux utilisateur, publier le strict minimum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63440" y="3163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230368" y="309981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Healthchecks, limites, rotation des logs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663440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6344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230368" y="37581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Construire une fois, scanner, signer, déployer par digest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640080" y="9144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Merci et bonne pratique</a:t>
            </a:r>
            <a:endParaRPr lang="en-US" sz="4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640080" y="2697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Le dépôt : github.com/nzembouong18/docker</a:t>
            </a:r>
            <a:endParaRPr lang="en-US" sz="2000" dirty="0"/>
          </a:p>
        </p:txBody>
      </p:sp>
      <p:sp>
        <p:nvSpPr>
          <p:cNvPr id="4" name="Auteur"/>
          <p:cNvSpPr txBox="1"/>
          <p:nvPr/>
        </p:nvSpPr>
        <p:spPr>
          <a:xfrm>
            <a:off x="64008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NZEMBOUONG Patrick</a:t>
            </a:r>
            <a:endParaRPr lang="en-US" sz="2000" dirty="0"/>
          </a:p>
        </p:txBody>
      </p:sp>
      <p:sp>
        <p:nvSpPr>
          <p:cNvPr id="5" name="Fonction"/>
          <p:cNvSpPr txBox="1"/>
          <p:nvPr/>
        </p:nvSpPr>
        <p:spPr>
          <a:xfrm>
            <a:off x="64008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Ingénieur DevOps Kubernetes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ker Formation">
  <a:themeElements>
    <a:clrScheme name="Docker Formation">
      <a:dk1>
        <a:srgbClr val="0B1B33"/>
      </a:dk1>
      <a:lt1>
        <a:srgbClr val="FFFFFF"/>
      </a:lt1>
      <a:dk2>
        <a:srgbClr val="0B2545"/>
      </a:dk2>
      <a:lt2>
        <a:srgbClr val="EEF3F8"/>
      </a:lt2>
      <a:accent1>
        <a:srgbClr val="0F9ED5"/>
      </a:accent1>
      <a:accent2>
        <a:srgbClr val="FF8A3D"/>
      </a:accent2>
      <a:accent3>
        <a:srgbClr val="1FB58F"/>
      </a:accent3>
      <a:accent4>
        <a:srgbClr val="7C5CFF"/>
      </a:accent4>
      <a:accent5>
        <a:srgbClr val="E5484D"/>
      </a:accent5>
      <a:accent6>
        <a:srgbClr val="FFC53D"/>
      </a:accent6>
      <a:hlink>
        <a:srgbClr val="0F9ED5"/>
      </a:hlink>
      <a:folHlink>
        <a:srgbClr val="7C5CFF"/>
      </a:folHlink>
    </a:clrScheme>
    <a:fontScheme name="Docker Form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Docker, du débutant à l'expert</dc:title>
  <dc:subject>Formation Docker complète : conteneurs, images, Compose, sécurité, CI/CD, orchestration</dc:subject>
  <dc:creator>NZEMBOUONG Patrick</dc:creator>
  <cp:lastModifiedBy>NZEMBOUONG Patrick</cp:lastModifiedBy>
  <cp:revision>1</cp:revision>
  <dcterms:created xsi:type="dcterms:W3CDTF">2026-10-24T15:11:59Z</dcterms:created>
  <dcterms:modified xsi:type="dcterms:W3CDTF">2026-10-24T15:11:59Z</dcterms:modified>
</cp:coreProperties>
</file>